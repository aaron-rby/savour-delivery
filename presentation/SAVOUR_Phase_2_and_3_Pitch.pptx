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950e8dc64448cc" /><Relationship Type="http://schemas.openxmlformats.org/officeDocument/2006/relationships/extended-properties" Target="/docProps/app.xml" Id="R4d11db7ed4f54e73" /><Relationship Type="http://schemas.openxmlformats.org/officeDocument/2006/relationships/officeDocument" Target="/ppt/presentation.xml" Id="R5c419180b02045de" /></Relationships>
</file>

<file path=ppt/presentation.xml><?xml version="1.0" encoding="utf-8"?>
<p:presentation xmlns:p="http://schemas.openxmlformats.org/presentationml/2006/main">
  <p:sldMasterIdLst>
    <p:sldMasterId xmlns:r="http://schemas.openxmlformats.org/officeDocument/2006/relationships" id="2147483648" r:id="R9c097c82b2274df3"/>
  </p:sldMasterIdLst>
  <p:notesMasterIdLst>
    <p:notesMasterId xmlns:r="http://schemas.openxmlformats.org/officeDocument/2006/relationships" r:id="R11ef66f664f4419d"/>
  </p:notesMasterIdLst>
  <p:sldIdLst>
    <p:sldId xmlns:r="http://schemas.openxmlformats.org/officeDocument/2006/relationships" id="256" r:id="R93b67542360544d0"/>
    <p:sldId xmlns:r="http://schemas.openxmlformats.org/officeDocument/2006/relationships" id="257" r:id="Ref1f3913e0f547bd"/>
    <p:sldId xmlns:r="http://schemas.openxmlformats.org/officeDocument/2006/relationships" id="258" r:id="R869c5ad24f4d446d"/>
    <p:sldId xmlns:r="http://schemas.openxmlformats.org/officeDocument/2006/relationships" id="259" r:id="Rb0f1d310627f4638"/>
    <p:sldId xmlns:r="http://schemas.openxmlformats.org/officeDocument/2006/relationships" id="260" r:id="R03628dccb80a47ed"/>
    <p:sldId xmlns:r="http://schemas.openxmlformats.org/officeDocument/2006/relationships" id="261" r:id="Rfc6b4174cf8e4e82"/>
    <p:sldId xmlns:r="http://schemas.openxmlformats.org/officeDocument/2006/relationships" id="262" r:id="R1c7ec5b2cc534c01"/>
    <p:sldId xmlns:r="http://schemas.openxmlformats.org/officeDocument/2006/relationships" id="263" r:id="R42cff3149a224d01"/>
    <p:sldId xmlns:r="http://schemas.openxmlformats.org/officeDocument/2006/relationships" id="264" r:id="Rdf459aaa7c7b4e78"/>
    <p:sldId xmlns:r="http://schemas.openxmlformats.org/officeDocument/2006/relationships" id="265" r:id="R1aa8bab9b9a0476c"/>
    <p:sldId xmlns:r="http://schemas.openxmlformats.org/officeDocument/2006/relationships" id="266" r:id="Rafd50207fd8a46e9"/>
    <p:sldId xmlns:r="http://schemas.openxmlformats.org/officeDocument/2006/relationships" id="267" r:id="R12d8ab3bda7b4c92"/>
    <p:sldId xmlns:r="http://schemas.openxmlformats.org/officeDocument/2006/relationships" id="268" r:id="Rf33feb0642da4c0f"/>
    <p:sldId xmlns:r="http://schemas.openxmlformats.org/officeDocument/2006/relationships" id="269" r:id="R2f22c064053c4f31"/>
    <p:sldId xmlns:r="http://schemas.openxmlformats.org/officeDocument/2006/relationships" id="270" r:id="Rc2a64f76d6824e92"/>
    <p:sldId xmlns:r="http://schemas.openxmlformats.org/officeDocument/2006/relationships" id="271" r:id="Ree1201c0ecec45aa"/>
    <p:sldId xmlns:r="http://schemas.openxmlformats.org/officeDocument/2006/relationships" id="272" r:id="R15e0e50b4c3943f6"/>
    <p:sldId xmlns:r="http://schemas.openxmlformats.org/officeDocument/2006/relationships" id="273" r:id="R050d0308b1c848de"/>
    <p:sldId xmlns:r="http://schemas.openxmlformats.org/officeDocument/2006/relationships" id="274" r:id="R0dba9a63e4b542c9"/>
    <p:sldId xmlns:r="http://schemas.openxmlformats.org/officeDocument/2006/relationships" id="275" r:id="Rce6a1467d9a4484f"/>
    <p:sldId xmlns:r="http://schemas.openxmlformats.org/officeDocument/2006/relationships" id="276" r:id="Rdf1ac270f66f491b"/>
    <p:sldId xmlns:r="http://schemas.openxmlformats.org/officeDocument/2006/relationships" id="277" r:id="R50df5b487f1b4d88"/>
    <p:sldId xmlns:r="http://schemas.openxmlformats.org/officeDocument/2006/relationships" id="278" r:id="R7541f5cf530f46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dfa80f06e949fa" /><Relationship Type="http://schemas.openxmlformats.org/officeDocument/2006/relationships/slideMaster" Target="/ppt/slideMasters/slideMaster1.xml" Id="R9c097c82b2274df3" /><Relationship Type="http://schemas.openxmlformats.org/officeDocument/2006/relationships/notesMaster" Target="/ppt/notesMasters/notesMaster1.xml" Id="R11ef66f664f4419d" /><Relationship Type="http://schemas.openxmlformats.org/officeDocument/2006/relationships/presProps" Target="/ppt/presProps.xml" Id="R95a0929a8d6d4db3" /><Relationship Type="http://schemas.openxmlformats.org/officeDocument/2006/relationships/tableStyles" Target="/ppt/tableStyles.xml" Id="R951c00fe33d54bcf" /><Relationship Type="http://schemas.openxmlformats.org/officeDocument/2006/relationships/slide" Target="/ppt/slides/slide1.xml" Id="R93b67542360544d0" /><Relationship Type="http://schemas.openxmlformats.org/officeDocument/2006/relationships/slide" Target="/ppt/slides/slide2.xml" Id="Ref1f3913e0f547bd" /><Relationship Type="http://schemas.openxmlformats.org/officeDocument/2006/relationships/slide" Target="/ppt/slides/slide3.xml" Id="R869c5ad24f4d446d" /><Relationship Type="http://schemas.openxmlformats.org/officeDocument/2006/relationships/slide" Target="/ppt/slides/slide4.xml" Id="Rb0f1d310627f4638" /><Relationship Type="http://schemas.openxmlformats.org/officeDocument/2006/relationships/slide" Target="/ppt/slides/slide5.xml" Id="R03628dccb80a47ed" /><Relationship Type="http://schemas.openxmlformats.org/officeDocument/2006/relationships/slide" Target="/ppt/slides/slide6.xml" Id="Rfc6b4174cf8e4e82" /><Relationship Type="http://schemas.openxmlformats.org/officeDocument/2006/relationships/slide" Target="/ppt/slides/slide7.xml" Id="R1c7ec5b2cc534c01" /><Relationship Type="http://schemas.openxmlformats.org/officeDocument/2006/relationships/slide" Target="/ppt/slides/slide8.xml" Id="R42cff3149a224d01" /><Relationship Type="http://schemas.openxmlformats.org/officeDocument/2006/relationships/slide" Target="/ppt/slides/slide9.xml" Id="Rdf459aaa7c7b4e78" /><Relationship Type="http://schemas.openxmlformats.org/officeDocument/2006/relationships/slide" Target="/ppt/slides/slide10.xml" Id="R1aa8bab9b9a0476c" /><Relationship Type="http://schemas.openxmlformats.org/officeDocument/2006/relationships/slide" Target="/ppt/slides/slide11.xml" Id="Rafd50207fd8a46e9" /><Relationship Type="http://schemas.openxmlformats.org/officeDocument/2006/relationships/slide" Target="/ppt/slides/slide12.xml" Id="R12d8ab3bda7b4c92" /><Relationship Type="http://schemas.openxmlformats.org/officeDocument/2006/relationships/slide" Target="/ppt/slides/slide13.xml" Id="Rf33feb0642da4c0f" /><Relationship Type="http://schemas.openxmlformats.org/officeDocument/2006/relationships/slide" Target="/ppt/slides/slide14.xml" Id="R2f22c064053c4f31" /><Relationship Type="http://schemas.openxmlformats.org/officeDocument/2006/relationships/slide" Target="/ppt/slides/slide15.xml" Id="Rc2a64f76d6824e92" /><Relationship Type="http://schemas.openxmlformats.org/officeDocument/2006/relationships/slide" Target="/ppt/slides/slide16.xml" Id="Ree1201c0ecec45aa" /><Relationship Type="http://schemas.openxmlformats.org/officeDocument/2006/relationships/slide" Target="/ppt/slides/slide17.xml" Id="R15e0e50b4c3943f6" /><Relationship Type="http://schemas.openxmlformats.org/officeDocument/2006/relationships/slide" Target="/ppt/slides/slide18.xml" Id="R050d0308b1c848de" /><Relationship Type="http://schemas.openxmlformats.org/officeDocument/2006/relationships/slide" Target="/ppt/slides/slide19.xml" Id="R0dba9a63e4b542c9" /><Relationship Type="http://schemas.openxmlformats.org/officeDocument/2006/relationships/slide" Target="/ppt/slides/slide20.xml" Id="Rce6a1467d9a4484f" /><Relationship Type="http://schemas.openxmlformats.org/officeDocument/2006/relationships/slide" Target="/ppt/slides/slide21.xml" Id="Rdf1ac270f66f491b" /><Relationship Type="http://schemas.openxmlformats.org/officeDocument/2006/relationships/slide" Target="/ppt/slides/slide22.xml" Id="R50df5b487f1b4d88" /><Relationship Type="http://schemas.openxmlformats.org/officeDocument/2006/relationships/slide" Target="/ppt/slides/slide23.xml" Id="R7541f5cf530f46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c6fac5ac354c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762fbe45684a22" /><Relationship Type="http://schemas.openxmlformats.org/officeDocument/2006/relationships/notesMaster" Target="/ppt/notesMasters/notesMaster1.xml" Id="R2c6ebcd58cc94f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c4dbf3920d4c3a" /><Relationship Type="http://schemas.openxmlformats.org/officeDocument/2006/relationships/notesMaster" Target="/ppt/notesMasters/notesMaster1.xml" Id="R9745bc181fab44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d91afe025d4fb4" /><Relationship Type="http://schemas.openxmlformats.org/officeDocument/2006/relationships/notesMaster" Target="/ppt/notesMasters/notesMaster1.xml" Id="Rb0b335e83c1c42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9eb9cddfce48d9" /><Relationship Type="http://schemas.openxmlformats.org/officeDocument/2006/relationships/notesMaster" Target="/ppt/notesMasters/notesMaster1.xml" Id="R3cfb9a625cc14a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cee6b10453443d" /><Relationship Type="http://schemas.openxmlformats.org/officeDocument/2006/relationships/notesMaster" Target="/ppt/notesMasters/notesMaster1.xml" Id="R1dd24672e5c444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d8065ec09445e9" /><Relationship Type="http://schemas.openxmlformats.org/officeDocument/2006/relationships/notesMaster" Target="/ppt/notesMasters/notesMaster1.xml" Id="R280d22768aeb496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9a766dd6a64153" /><Relationship Type="http://schemas.openxmlformats.org/officeDocument/2006/relationships/notesMaster" Target="/ppt/notesMasters/notesMaster1.xml" Id="Rb06a3abdd54c47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f7613398134738" /><Relationship Type="http://schemas.openxmlformats.org/officeDocument/2006/relationships/notesMaster" Target="/ppt/notesMasters/notesMaster1.xml" Id="R2ffe8dfc272646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7470560fcc4798" /><Relationship Type="http://schemas.openxmlformats.org/officeDocument/2006/relationships/notesMaster" Target="/ppt/notesMasters/notesMaster1.xml" Id="Rb6d71b9cdd634a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44f9389d1b4fd5" /><Relationship Type="http://schemas.openxmlformats.org/officeDocument/2006/relationships/notesMaster" Target="/ppt/notesMasters/notesMaster1.xml" Id="R9bb9904849ce4b0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0a042bb5517493e" /><Relationship Type="http://schemas.openxmlformats.org/officeDocument/2006/relationships/notesMaster" Target="/ppt/notesMasters/notesMaster1.xml" Id="R9286edf6f5dc4e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8d490cefaba4574" /><Relationship Type="http://schemas.openxmlformats.org/officeDocument/2006/relationships/notesMaster" Target="/ppt/notesMasters/notesMaster1.xml" Id="R988040bb3b664eb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df3321d36204971" /><Relationship Type="http://schemas.openxmlformats.org/officeDocument/2006/relationships/notesMaster" Target="/ppt/notesMasters/notesMaster1.xml" Id="R6a1423e16a234a9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8b78e7fde2f4caa" /><Relationship Type="http://schemas.openxmlformats.org/officeDocument/2006/relationships/notesMaster" Target="/ppt/notesMasters/notesMaster1.xml" Id="R31535af859ae40a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88355ed85ef4fbf" /><Relationship Type="http://schemas.openxmlformats.org/officeDocument/2006/relationships/notesMaster" Target="/ppt/notesMasters/notesMaster1.xml" Id="R3b9da924790c44c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d3cd0c952d84fe2" /><Relationship Type="http://schemas.openxmlformats.org/officeDocument/2006/relationships/notesMaster" Target="/ppt/notesMasters/notesMaster1.xml" Id="R822c5f69a37a461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788005e443c4c3c" /><Relationship Type="http://schemas.openxmlformats.org/officeDocument/2006/relationships/notesMaster" Target="/ppt/notesMasters/notesMaster1.xml" Id="R52bd664764d847d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ad2d4adcfca49f3" /><Relationship Type="http://schemas.openxmlformats.org/officeDocument/2006/relationships/notesMaster" Target="/ppt/notesMasters/notesMaster1.xml" Id="R89bd8d26f37e473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b95602e5ec94b9d" /><Relationship Type="http://schemas.openxmlformats.org/officeDocument/2006/relationships/notesMaster" Target="/ppt/notesMasters/notesMaster1.xml" Id="R79fcafa90295477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7475b36e2d7472c" /><Relationship Type="http://schemas.openxmlformats.org/officeDocument/2006/relationships/notesMaster" Target="/ppt/notesMasters/notesMaster1.xml" Id="Rcdac3205c586470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e62b13ec3534129" /><Relationship Type="http://schemas.openxmlformats.org/officeDocument/2006/relationships/notesMaster" Target="/ppt/notesMasters/notesMaster1.xml" Id="R131ba3d082d84d3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5675c06e6a54053" /><Relationship Type="http://schemas.openxmlformats.org/officeDocument/2006/relationships/notesMaster" Target="/ppt/notesMasters/notesMaster1.xml" Id="R081a7fdb84c648c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ef661a27409405f" /><Relationship Type="http://schemas.openxmlformats.org/officeDocument/2006/relationships/notesMaster" Target="/ppt/notesMasters/notesMaster1.xml" Id="Red38f8f2d30648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pitch: SAVOUR connects the customer order journey to a relational database. Our strongest evidence is the transaction behind checkout: the order header, item prices and payment record commit together. This presentation covers every requirement in the Phase 2 and Phase 3 rubric.</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An attractive ordering screen is only the beginning. If the menu changes after checkout, the customer still needs the original invoice. If a write fails, the system must avoid a partial order. SAVOUR uses relational keys, server validation and transactions to address these problems.</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overview pages 8–9: Phase 2 awards 2 marks each to DDL, DML, frontend, business logic and initial connectivity (the latter appears in the stage-wise rubric on page 6). Phase 3 awards 2 for complete connectivity, 3 for testing and 5 for demonstration/documentation. The 80% and 100% figures are course milestones, not measured claims about this code.</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request path in that order. Java 21 is the project target, while the verified Windows run uses Java 26. Spring Boot is 3.3.4 and Next.js is 16.4.0. The current dev profile uses H2 in Oracle compatibility mode. Oracle JDBC is included as a dependency, but this run does not establish an Oracle connection. Source: backend/pom.xml, application.properties, application-dev.properties, frontend/package.json.</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actual schema names. CUSTOMER and DELIVERY_PARTNER share their primary key with APP_USER as subtype tables. RESTAURANT has many MENU_ITEM and FOOD_ORDER records. FOOD_ORDER has many ORDER_ITEM records. PAYMENT.order_id is unique. DELIVERY.order_id is its primary key. ORDER_ITEM uses the composite primary key (order_id, item_id). Source: backend/src/main/resources/schema.sql.</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constraints: is_available IN (0,1), delivery_fee &gt;= 0, PAYMENT.payment_amount &gt; 0. Selected children cascade on deletion, while references such as FOOD_ORDER.customer_id restrict parent deletion by default. The running DDL does not define status-domain CHECK constraints or a REVIEWS table. Avoid claiming those are present. Source: schema.sql.</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Abbreviated from the executable DDL: both foreign key columns are NOT NULL, and order_id includes ON DELETE CASCADE in the source. The composite key permits one row per dish per order. A quantity represents multiple units. The snapshot is intentional historical data, distinct from the current menu price.</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 between current_price and agreed_unit_price: the same dish may have different agreed prices across different orders. Do not claim that surrogate keys alone prove normalization. A complete BCNF proof needs declared functional dependencies for every relation. The supplied narrative documentation describes a different schema, so this slide uses the executable schema.</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Executable data.sql contains realistic Indian restaurant names and rupee prices. Show INSERT examples from data.sql and query the resulting tables. Parent-first loading prevents foreign-key failures. These are demonstration records, not real customers or operational business data.</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SQL using the implemented columns. Run against a disposable demo database, since this insert adds a record. restaurant_id=1 must exist. After the insert, read the generated item ID before using it in an order. The project seed script provides the full population dataset.</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Routes: /restaurants, /cart, /checkout, /orders, /operator, /delivery and /admin. Demonstrate the product in the browser. Persona switching supports demonstration and should not be described as production authentication. Frontend API functions fall back to a local dbStore on several failures. Therefore visible UI changes alone do not prove JDBC writes. Source: frontend/src/lib/api.ts and frontend/src/app.</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OrderService.placeOrder performs these validations. It checks user and restaurant existence, while the CUSTOMER foreign key ultimately enforces customer subtype membership. The backend does not currently calculate the frontend’s optional tax/tip values. Non-COD payment status is recorded as COMPLETED without a payment-gateway integration. Source: OrderService.java.</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atomicity: an unhandled runtime exception rolls back the transaction. The service retrieves current menu prices and stores them on each order line. For concurrency hardening, read/lock or version menu prices consistently rather than repeatedly reading them during checkout. The existing rollback test rejects invalid input before writes, so it does not yet prove rollback after a partially completed insert sequence.</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MenuItemRepository passes restaurantId separately to JdbcTemplate.query. RowMapper converts ResultSet columns into MenuItem. Prepared statements bind values instead of concatenating user input. For an initial write, show POST /api/menu-items and its repository INSERT with generated-key retrieval. Source: MenuItemRepository.java and MenuItemController.java.</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CRUD is a Phase 3 requirement. The current code does not satisfy the delete part through the application. A suitable completion task is a constrained delete for an unused menu item, while preserving items referenced by order history. Do not delete business records during the presentation without a dedicated demo dataset. Source: controller and repository inspection.</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database health endpoint executes SELECT 1 FROM DUAL, which H2 Oracle mode also supports. Its engine label is hard-coded to Oracle and is not proof of Oracle use. The current application-dev.properties selects jdbc:h2:mem:savour_dev. In-memory records disappear when the backend restarts. For Oracle verification, configure the base datasource, disable the dev override and run schema/data plus CRUD checks on Oracle.</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on 22 October 2026 in Windows, using Java 26 and Maven 3.9.9. Tests use SpringBootTest, JUnit and H2 in Oracle mode. The source labels scenarios up to 13 because one method combines scenarios 3 and 4. Report the actual Maven count of 12. This is backend integration coverage, not a browser end-to-end suite or Oracle certification. Source: savour-test.log and SavourBackendTests.java.</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GlobalExceptionHandler returns timestamp, status, error and message. Field-validation responses also contain an errors map. Demonstrate a duplicate email or repeated payment directly against the backend test environment. Oracle ORA codes differ from H2 errors. The frontend currently catches several backend failures and uses local state, so verify the network response and database state as well.</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an order ID visible. Show the backend response, then query FOOD_ORDER, ORDER_ITEM and PAYMENT. Use a permitted path: PLACED, CONFIRMED, PREPARING, OUT_FOR_DELIVERY, DELIVERED. ACCEPTED and READY are additional allowed states in the service. Cancellation is allowed from several early states. The service rejects changes after DELIVERED or CANCELLED. For the price snapshot demonstration, modify the current menu price and retrieve the old order, then restore the demo price.</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course requires Final PPT plus complete project report via VTOP, alongside a live demonstration and viva. This deck supports that submission but is not the separate project report. Existing docs include architecture.md, database-design.md, testing.md and phase2-demo-guide.md. Reconcile their table names and claims with the executable code before submitting. Do not submit passwords or sensitive environment values.</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Specific route mismatch: frontend toggleMenuItemAvailability sends PUT /restaurants/{restaurantId}/menu/{itemId}/availability, while the backend exposes PATCH /menu-items/{id}/availability with a JSON body. Reviews are available in the local store but no matching backend controller/table appears in the running schema. Add browser-to-database CRUD tests and a rollback test that fails after writes begin. These are completion tasks, not claims of completed features.</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viva answers: A foreign key prevents an orphan record. A unique order_id in PAYMENT restricts each order to one payment row. The composite order-item primary key prevents duplicate lines for the same dish. Updates to menu prices must not alter agreed_unit_price. H2 compatibility mode helps local development but does not replace testing on Oracle.</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pitch: SAVOUR demonstrates how database design supports the application journey. We can show server-calculated pricing, relational integrity and an atomic checkout. For final delivery, we will complete delete integration, verify the selected database deployment and ensure the UI and report reflect the same implementation. Invite questions and open the live application.</a:t>
            </a:r>
          </a:p>
          <a:p xmlns:a="http://schemas.openxmlformats.org/drawingml/2006/main">
            <a:r>
              <a:t/>
            </a:r>
          </a:p>
          <a:p xmlns:a="http://schemas.openxmlformats.org/drawingml/2006/main">
            <a:r>
              <a:t>Sources: BACSE202_Course_Project_Overview.pdf, pp. 6, 8–9. Implementation root: C:/Users/aaron/Downloads/SAVOUR-Food-Delivery-main/SAVOUR-Food-Delivery-main/ Relevant executable sources are identified in the notes above. Verified test log: C:/Users/aaron/Documents/DBS PROJECT/savour-test.log.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11f2ff349e47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9129d825b4f4e4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01a59dbeda94b8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8b7aa4c12eb44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5da00ea1ce64bc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ca8e9f8c9445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7B93EA-7BA8-405B-9001-64ADB6325E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831C4DC-1272-4B26-ABFC-D95F7656FF3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1FFEB10-FA70-4696-84C0-A83A9A06BB6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72C117-5255-40E6-94A3-5953E31501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4F3F791-1272-45A8-84F2-DEF20DD777F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DBAEBE-08CB-4961-88F2-ECA2BAAC82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FCDBDF-4D8B-4C9F-BF19-8DBF9900212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DA382C9-6081-4E36-9F8C-2051005F2C5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F9F4C4-F8CC-4D38-9A42-87236F05F9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B612B7-581A-4067-AB69-A30A1854579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46d20437c04a05" /><Relationship Type="http://schemas.openxmlformats.org/officeDocument/2006/relationships/slideLayout" Target="/ppt/slideLayouts/slideLayout1.xml" Id="R10fbf3bedef54780" /><Relationship Type="http://schemas.openxmlformats.org/officeDocument/2006/relationships/slideLayout" Target="/ppt/slideLayouts/slideLayout2.xml" Id="R4820b8039cca4b03" /><Relationship Type="http://schemas.openxmlformats.org/officeDocument/2006/relationships/slideLayout" Target="/ppt/slideLayouts/slideLayout3.xml" Id="R396c63dba5544145" /><Relationship Type="http://schemas.openxmlformats.org/officeDocument/2006/relationships/slideLayout" Target="/ppt/slideLayouts/slideLayout4.xml" Id="Rb098dd68a9854bd5" /><Relationship Type="http://schemas.openxmlformats.org/officeDocument/2006/relationships/slideLayout" Target="/ppt/slideLayouts/slideLayout5.xml" Id="R4cef510c21ec4f88" /><Relationship Type="http://schemas.openxmlformats.org/officeDocument/2006/relationships/slideLayout" Target="/ppt/slideLayouts/slideLayout6.xml" Id="Raf9b5d9d6c4344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fbf3bedef54780"/>
    <p:sldLayoutId xmlns:r="http://schemas.openxmlformats.org/officeDocument/2006/relationships" id="2147483650" r:id="R4820b8039cca4b03"/>
    <p:sldLayoutId xmlns:r="http://schemas.openxmlformats.org/officeDocument/2006/relationships" id="2147483651" r:id="R396c63dba5544145"/>
    <p:sldLayoutId xmlns:r="http://schemas.openxmlformats.org/officeDocument/2006/relationships" id="2147483652" r:id="Rb098dd68a9854bd5"/>
    <p:sldLayoutId xmlns:r="http://schemas.openxmlformats.org/officeDocument/2006/relationships" id="2147483653" r:id="R4cef510c21ec4f88"/>
    <p:sldLayoutId xmlns:r="http://schemas.openxmlformats.org/officeDocument/2006/relationships" id="2147483654" r:id="Raf9b5d9d6c4344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6d7c27519e54bca" /><Relationship Type="http://schemas.openxmlformats.org/officeDocument/2006/relationships/notesSlide" Target="/ppt/notesSlides/notesSlide1.xml" Id="Rf522418f02cd4d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015c7b0af2d4945" /><Relationship Type="http://schemas.openxmlformats.org/officeDocument/2006/relationships/notesSlide" Target="/ppt/notesSlides/notesSlide2.xml" Id="R4ed8759856e54e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4d727a5519546e5" /><Relationship Type="http://schemas.openxmlformats.org/officeDocument/2006/relationships/notesSlide" Target="/ppt/notesSlides/notesSlide3.xml" Id="Rec8a043aad254b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fca946bb95743e3" /><Relationship Type="http://schemas.openxmlformats.org/officeDocument/2006/relationships/notesSlide" Target="/ppt/notesSlides/notesSlide4.xml" Id="R204347bf09c847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db659c751a64e50" /><Relationship Type="http://schemas.openxmlformats.org/officeDocument/2006/relationships/notesSlide" Target="/ppt/notesSlides/notesSlide5.xml" Id="R1891d5bbf49c47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ac8e7c0cfac4561" /><Relationship Type="http://schemas.openxmlformats.org/officeDocument/2006/relationships/notesSlide" Target="/ppt/notesSlides/notesSlide6.xml" Id="Ra73f4e00c8ad43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1e5ae60245c45a9" /><Relationship Type="http://schemas.openxmlformats.org/officeDocument/2006/relationships/notesSlide" Target="/ppt/notesSlides/notesSlide7.xml" Id="R104afd2ab86143f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5132a7bd2ab4d32" /><Relationship Type="http://schemas.openxmlformats.org/officeDocument/2006/relationships/notesSlide" Target="/ppt/notesSlides/notesSlide8.xml" Id="Ra5ebae10ca0548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85e5f82506b494c" /><Relationship Type="http://schemas.openxmlformats.org/officeDocument/2006/relationships/notesSlide" Target="/ppt/notesSlides/notesSlide9.xml" Id="Ra783f75360c748d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70fe2f25fdb4686" /><Relationship Type="http://schemas.openxmlformats.org/officeDocument/2006/relationships/notesSlide" Target="/ppt/notesSlides/notesSlide10.xml" Id="R3566d67a47e84a7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e1df45f8dd0484e" /><Relationship Type="http://schemas.openxmlformats.org/officeDocument/2006/relationships/notesSlide" Target="/ppt/notesSlides/notesSlide11.xml" Id="R263264054eb6449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41ea6737d5b434d" /><Relationship Type="http://schemas.openxmlformats.org/officeDocument/2006/relationships/notesSlide" Target="/ppt/notesSlides/notesSlide12.xml" Id="R5f07ff04628649f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757de725f244f01" /><Relationship Type="http://schemas.openxmlformats.org/officeDocument/2006/relationships/notesSlide" Target="/ppt/notesSlides/notesSlide13.xml" Id="R8e43b0642dc9415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44376b6da074c56" /><Relationship Type="http://schemas.openxmlformats.org/officeDocument/2006/relationships/notesSlide" Target="/ppt/notesSlides/notesSlide14.xml" Id="R4583d5c62f7341f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0e6efd36bad4b33" /><Relationship Type="http://schemas.openxmlformats.org/officeDocument/2006/relationships/notesSlide" Target="/ppt/notesSlides/notesSlide15.xml" Id="R796fd91550394f5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3b012af5a694871" /><Relationship Type="http://schemas.openxmlformats.org/officeDocument/2006/relationships/notesSlide" Target="/ppt/notesSlides/notesSlide16.xml" Id="R138420141c514a5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ec95773842249bc" /><Relationship Type="http://schemas.openxmlformats.org/officeDocument/2006/relationships/notesSlide" Target="/ppt/notesSlides/notesSlide17.xml" Id="Rb96ca2c39ee24be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67c535991e74890" /><Relationship Type="http://schemas.openxmlformats.org/officeDocument/2006/relationships/notesSlide" Target="/ppt/notesSlides/notesSlide18.xml" Id="R011caaad6f9743a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09fbca330d3412a" /><Relationship Type="http://schemas.openxmlformats.org/officeDocument/2006/relationships/notesSlide" Target="/ppt/notesSlides/notesSlide19.xml" Id="R1c16119c3c424d9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bfe4a9b1a9446e2" /><Relationship Type="http://schemas.openxmlformats.org/officeDocument/2006/relationships/notesSlide" Target="/ppt/notesSlides/notesSlide20.xml" Id="Ra980692fee78427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30cb5f0d1ff4165" /><Relationship Type="http://schemas.openxmlformats.org/officeDocument/2006/relationships/notesSlide" Target="/ppt/notesSlides/notesSlide21.xml" Id="Ra4961d025c7c44b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27bccbe155c432b" /><Relationship Type="http://schemas.openxmlformats.org/officeDocument/2006/relationships/notesSlide" Target="/ppt/notesSlides/notesSlide22.xml" Id="R2a2489b5cfb14d0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3edbf5487384971" /><Relationship Type="http://schemas.openxmlformats.org/officeDocument/2006/relationships/notesSlide" Target="/ppt/notesSlides/notesSlide23.xml" Id="Ree7a9ed1346a4487" /></Relationships>
</file>

<file path=ppt/slides/slide1.xml><?xml version="1.0" encoding="utf-8"?>
<p:sld xmlns:p="http://schemas.openxmlformats.org/presentationml/2006/main">
  <p:cSld>
    <p:bg>
      <p:bgPr>
        <a:solidFill xmlns:a="http://schemas.openxmlformats.org/drawingml/2006/main">
          <a:srgbClr val="183D3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861FEE-3F96-4AD0-8FA3-C92C54D7FC45}"/>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E8B97A"/>
                </a:solidFill>
                <a:latin typeface="Arial"/>
                <a:ea typeface="Arial"/>
                <a:cs typeface="Arial"/>
              </a:defRPr>
            </a:defPPr>
          </a:lstStyle>
          <a:p xmlns:a="http://schemas.openxmlformats.org/drawingml/2006/main">
            <a:pPr>
              <a:defRPr sz="1425" b="1">
                <a:solidFill>
                  <a:srgbClr val="E8B97A"/>
                </a:solidFill>
                <a:latin typeface="Arial"/>
                <a:ea typeface="Arial"/>
                <a:cs typeface="Arial"/>
              </a:defRPr>
            </a:pPr>
            <a:r>
              <a:rPr sz="1425" b="1">
                <a:solidFill>
                  <a:srgbClr val="E8B97A"/>
                </a:solidFill>
                <a:latin typeface="Arial"/>
                <a:ea typeface="Arial"/>
                <a:cs typeface="Arial"/>
              </a:rPr>
              <a:t>SAVOUR</a:t>
            </a:r>
          </a:p>
        </p:txBody>
      </p:sp>
      <p:sp>
        <p:nvSpPr>
          <p:cNvPr id="2" name="">
            <a:extLst xmlns:a="http://schemas.openxmlformats.org/drawingml/2006/main">
              <a:ext uri="{FF2B5EF4-FFF2-40B4-BE49-F238E27FC236}">
                <a16:creationId xmlns:a16="http://schemas.microsoft.com/office/drawing/2014/main" id="{AA697E1A-7925-461F-A6B4-A7880A6A707F}"/>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F7F3EB"/>
                </a:solidFill>
                <a:latin typeface="Arial"/>
                <a:ea typeface="Arial"/>
                <a:cs typeface="Arial"/>
              </a:defRPr>
            </a:defPPr>
          </a:lstStyle>
          <a:p xmlns:a="http://schemas.openxmlformats.org/drawingml/2006/main">
            <a:pPr>
              <a:defRPr sz="4650" b="1">
                <a:solidFill>
                  <a:srgbClr val="F7F3EB"/>
                </a:solidFill>
                <a:latin typeface="Arial"/>
                <a:ea typeface="Arial"/>
                <a:cs typeface="Arial"/>
              </a:defRPr>
            </a:pPr>
            <a:r>
              <a:rPr sz="4650" b="1">
                <a:solidFill>
                  <a:srgbClr val="F7F3EB"/>
                </a:solidFill>
                <a:latin typeface="Arial"/>
                <a:ea typeface="Arial"/>
                <a:cs typeface="Arial"/>
              </a:rPr>
              <a:t>Food delivery backed by a relational database</a:t>
            </a:r>
          </a:p>
        </p:txBody>
      </p:sp>
      <p:sp>
        <p:nvSpPr>
          <p:cNvPr id="3" name="">
            <a:extLst xmlns:a="http://schemas.openxmlformats.org/drawingml/2006/main">
              <a:ext uri="{FF2B5EF4-FFF2-40B4-BE49-F238E27FC236}">
                <a16:creationId xmlns:a16="http://schemas.microsoft.com/office/drawing/2014/main" id="{1629CA77-4723-43D4-B21E-2E037800CE9A}"/>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7F3EB"/>
                </a:solidFill>
                <a:latin typeface="Arial"/>
                <a:ea typeface="Arial"/>
                <a:cs typeface="Arial"/>
              </a:defRPr>
            </a:defPPr>
          </a:lstStyle>
          <a:p xmlns:a="http://schemas.openxmlformats.org/drawingml/2006/main">
            <a:pPr>
              <a:defRPr sz="2250" b="0">
                <a:solidFill>
                  <a:srgbClr val="F7F3EB"/>
                </a:solidFill>
                <a:latin typeface="Arial"/>
                <a:ea typeface="Arial"/>
                <a:cs typeface="Arial"/>
              </a:defRPr>
            </a:pPr>
            <a:r>
              <a:rPr sz="2250" b="0">
                <a:solidFill>
                  <a:srgbClr val="F7F3EB"/>
                </a:solidFill>
                <a:latin typeface="Arial"/>
                <a:ea typeface="Arial"/>
                <a:cs typeface="Arial"/>
              </a:rPr>
              <a:t>Phase 2 implementation and Phase 3 integration</a:t>
            </a:r>
          </a:p>
          <a:p xmlns:a="http://schemas.openxmlformats.org/drawingml/2006/main">
            <a:pPr>
              <a:defRPr sz="2250" b="0">
                <a:solidFill>
                  <a:srgbClr val="F7F3EB"/>
                </a:solidFill>
                <a:latin typeface="Arial"/>
                <a:ea typeface="Arial"/>
                <a:cs typeface="Arial"/>
              </a:defRPr>
            </a:pPr>
            <a:r>
              <a:rPr sz="2250" b="0">
                <a:solidFill>
                  <a:srgbClr val="F7F3EB"/>
                </a:solidFill>
                <a:latin typeface="Arial"/>
                <a:ea typeface="Arial"/>
                <a:cs typeface="Arial"/>
              </a:rPr>
              <a:t>BACSE202 Database Systems · VIT</a:t>
            </a:r>
          </a:p>
        </p:txBody>
      </p:sp>
      <p:sp>
        <p:nvSpPr>
          <p:cNvPr id="4" name="">
            <a:extLst xmlns:a="http://schemas.openxmlformats.org/drawingml/2006/main">
              <a:ext uri="{FF2B5EF4-FFF2-40B4-BE49-F238E27FC236}">
                <a16:creationId xmlns:a16="http://schemas.microsoft.com/office/drawing/2014/main" id="{28D94A5B-98E3-4939-A737-29683FCDE70B}"/>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E8B97A"/>
                </a:solidFill>
                <a:latin typeface="Arial"/>
                <a:ea typeface="Arial"/>
                <a:cs typeface="Arial"/>
              </a:defRPr>
            </a:defPPr>
          </a:lstStyle>
          <a:p xmlns:a="http://schemas.openxmlformats.org/drawingml/2006/main">
            <a:pPr>
              <a:defRPr sz="1200" b="0">
                <a:solidFill>
                  <a:srgbClr val="E8B97A"/>
                </a:solidFill>
                <a:latin typeface="Arial"/>
                <a:ea typeface="Arial"/>
                <a:cs typeface="Arial"/>
              </a:defRPr>
            </a:pPr>
            <a:r>
              <a:rPr sz="1200" b="0">
                <a:solidFill>
                  <a:srgbClr val="E8B97A"/>
                </a:solidFill>
                <a:latin typeface="Arial"/>
                <a:ea typeface="Arial"/>
                <a:cs typeface="Arial"/>
              </a:rPr>
              <a:t>01</a:t>
            </a:r>
          </a:p>
        </p:txBody>
      </p:sp>
    </p:spTree>
    <p:extLst>
      <p:ext uri="{BB962C8B-B14F-4D97-AF65-F5344CB8AC3E}">
        <p14:creationId xmlns:p14="http://schemas.microsoft.com/office/powerpoint/2010/main" val="1491743775"/>
      </p:ext>
    </p:extLst>
  </p:cSld>
</p:sld>
</file>

<file path=ppt/slides/slide2.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97CF69A-074A-4060-BB80-412865C33BA8}"/>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THE PROBLEM</a:t>
            </a:r>
          </a:p>
        </p:txBody>
      </p:sp>
      <p:sp>
        <p:nvSpPr>
          <p:cNvPr id="2" name="">
            <a:extLst xmlns:a="http://schemas.openxmlformats.org/drawingml/2006/main">
              <a:ext uri="{FF2B5EF4-FFF2-40B4-BE49-F238E27FC236}">
                <a16:creationId xmlns:a16="http://schemas.microsoft.com/office/drawing/2014/main" id="{30469F03-7B33-4A3C-ADCD-69488E19F1FD}"/>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One order needs a consistent record</a:t>
            </a:r>
          </a:p>
        </p:txBody>
      </p:sp>
      <p:sp>
        <p:nvSpPr>
          <p:cNvPr id="3" name="">
            <a:extLst xmlns:a="http://schemas.openxmlformats.org/drawingml/2006/main">
              <a:ext uri="{FF2B5EF4-FFF2-40B4-BE49-F238E27FC236}">
                <a16:creationId xmlns:a16="http://schemas.microsoft.com/office/drawing/2014/main" id="{72EFCF15-C769-4FF2-878B-5F1CA96E0887}"/>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2"/>
                </a:solidFill>
                <a:latin typeface="Arial"/>
                <a:ea typeface="Arial"/>
                <a:cs typeface="Arial"/>
              </a:defRPr>
            </a:defPPr>
          </a:lstStyle>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Customers need accurate prices and order status.</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Kitchens need valid orders and menu availability.</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Couriers need an order assignment and delivery record.</a:t>
            </a:r>
          </a:p>
        </p:txBody>
      </p:sp>
      <p:sp>
        <p:nvSpPr>
          <p:cNvPr id="4" name="">
            <a:extLst xmlns:a="http://schemas.openxmlformats.org/drawingml/2006/main">
              <a:ext uri="{FF2B5EF4-FFF2-40B4-BE49-F238E27FC236}">
                <a16:creationId xmlns:a16="http://schemas.microsoft.com/office/drawing/2014/main" id="{2B663CA7-3661-4A9E-9AEB-A4DF32FA1197}"/>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02</a:t>
            </a:r>
          </a:p>
        </p:txBody>
      </p:sp>
    </p:spTree>
    <p:extLst>
      <p:ext uri="{BB962C8B-B14F-4D97-AF65-F5344CB8AC3E}">
        <p14:creationId xmlns:p14="http://schemas.microsoft.com/office/powerpoint/2010/main" val="112726397"/>
      </p:ext>
    </p:extLst>
  </p:cSld>
</p:sld>
</file>

<file path=ppt/slides/slide3.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AF4F96F-7C3D-40F5-8F24-AC5DB521FE2B}"/>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ASSESSMENT COVERAGE</a:t>
            </a:r>
          </a:p>
        </p:txBody>
      </p:sp>
      <p:sp>
        <p:nvSpPr>
          <p:cNvPr id="2" name="">
            <a:extLst xmlns:a="http://schemas.openxmlformats.org/drawingml/2006/main">
              <a:ext uri="{FF2B5EF4-FFF2-40B4-BE49-F238E27FC236}">
                <a16:creationId xmlns:a16="http://schemas.microsoft.com/office/drawing/2014/main" id="{8D6C3101-B02B-44DA-BCA9-508C412B1ECE}"/>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Every rubric item has an evidence path</a:t>
            </a:r>
          </a:p>
        </p:txBody>
      </p:sp>
      <p:sp>
        <p:nvSpPr>
          <p:cNvPr id="3" name="">
            <a:extLst xmlns:a="http://schemas.openxmlformats.org/drawingml/2006/main">
              <a:ext uri="{FF2B5EF4-FFF2-40B4-BE49-F238E27FC236}">
                <a16:creationId xmlns:a16="http://schemas.microsoft.com/office/drawing/2014/main" id="{516C0C07-88FA-482B-BE05-9A9936504787}"/>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2"/>
                </a:solidFill>
                <a:latin typeface="Arial"/>
                <a:ea typeface="Arial"/>
                <a:cs typeface="Arial"/>
              </a:defRPr>
            </a:defPPr>
          </a:lstStyle>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Phase 2: DDL, DML, frontend, business logic and initial JDBC.</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Phase 3: complete CRUD integration, testing, demo and documentation.</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The final section identifies evidence still needed for full completion.</a:t>
            </a:r>
          </a:p>
        </p:txBody>
      </p:sp>
      <p:sp>
        <p:nvSpPr>
          <p:cNvPr id="4" name="">
            <a:extLst xmlns:a="http://schemas.openxmlformats.org/drawingml/2006/main">
              <a:ext uri="{FF2B5EF4-FFF2-40B4-BE49-F238E27FC236}">
                <a16:creationId xmlns:a16="http://schemas.microsoft.com/office/drawing/2014/main" id="{D20E5C07-D035-4C48-9C61-7FEC825FC4F8}"/>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03</a:t>
            </a:r>
          </a:p>
        </p:txBody>
      </p:sp>
    </p:spTree>
    <p:extLst>
      <p:ext uri="{BB962C8B-B14F-4D97-AF65-F5344CB8AC3E}">
        <p14:creationId xmlns:p14="http://schemas.microsoft.com/office/powerpoint/2010/main" val="1128489785"/>
      </p:ext>
    </p:extLst>
  </p:cSld>
</p:sld>
</file>

<file path=ppt/slides/slide4.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1C6AEC2-C636-403D-95CD-5AE03A55CB7B}"/>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0CAD2204-E9C5-4298-AAC3-B9C54934354B}"/>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The browser reaches the database through JDBC</a:t>
            </a:r>
          </a:p>
        </p:txBody>
      </p:sp>
      <p:sp>
        <p:nvSpPr>
          <p:cNvPr id="3" name="">
            <a:extLst xmlns:a="http://schemas.openxmlformats.org/drawingml/2006/main">
              <a:ext uri="{FF2B5EF4-FFF2-40B4-BE49-F238E27FC236}">
                <a16:creationId xmlns:a16="http://schemas.microsoft.com/office/drawing/2014/main" id="{23043114-8B74-4436-BDD6-64A1A7AF6BE9}"/>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2"/>
                </a:solidFill>
                <a:latin typeface="Arial"/>
                <a:ea typeface="Arial"/>
                <a:cs typeface="Arial"/>
              </a:defRPr>
            </a:defPPr>
          </a:lstStyle>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Next.js frontend at localhost:3000</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Spring Boot REST API at localhost:8081/api</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Services validate requests and repositories execute SQL</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HikariCP supplies JDBC connections to H2 in the current run</a:t>
            </a:r>
          </a:p>
        </p:txBody>
      </p:sp>
      <p:sp>
        <p:nvSpPr>
          <p:cNvPr id="4" name="">
            <a:extLst xmlns:a="http://schemas.openxmlformats.org/drawingml/2006/main">
              <a:ext uri="{FF2B5EF4-FFF2-40B4-BE49-F238E27FC236}">
                <a16:creationId xmlns:a16="http://schemas.microsoft.com/office/drawing/2014/main" id="{5391A53F-AB5B-4F7C-B702-4F5BD35B76DF}"/>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04</a:t>
            </a:r>
          </a:p>
        </p:txBody>
      </p:sp>
    </p:spTree>
    <p:extLst>
      <p:ext uri="{BB962C8B-B14F-4D97-AF65-F5344CB8AC3E}">
        <p14:creationId xmlns:p14="http://schemas.microsoft.com/office/powerpoint/2010/main" val="1525928765"/>
      </p:ext>
    </p:extLst>
  </p:cSld>
</p:sld>
</file>

<file path=ppt/slides/slide5.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1125387-91C6-4256-BF1B-1FFAF7B2AAC3}"/>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PHASE 2 · DATABASE DESIGN</a:t>
            </a:r>
          </a:p>
        </p:txBody>
      </p:sp>
      <p:sp>
        <p:nvSpPr>
          <p:cNvPr id="2" name="">
            <a:extLst xmlns:a="http://schemas.openxmlformats.org/drawingml/2006/main">
              <a:ext uri="{FF2B5EF4-FFF2-40B4-BE49-F238E27FC236}">
                <a16:creationId xmlns:a16="http://schemas.microsoft.com/office/drawing/2014/main" id="{945BBFE5-8144-4222-95CC-E1176DE8911D}"/>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Nine tables represent the order lifecycle</a:t>
            </a:r>
          </a:p>
        </p:txBody>
      </p:sp>
      <p:sp>
        <p:nvSpPr>
          <p:cNvPr id="3" name="">
            <a:extLst xmlns:a="http://schemas.openxmlformats.org/drawingml/2006/main">
              <a:ext uri="{FF2B5EF4-FFF2-40B4-BE49-F238E27FC236}">
                <a16:creationId xmlns:a16="http://schemas.microsoft.com/office/drawing/2014/main" id="{DAFCF698-7857-4F39-B4B9-4B69112F1493}"/>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2"/>
                </a:solidFill>
                <a:latin typeface="Arial"/>
                <a:ea typeface="Arial"/>
                <a:cs typeface="Arial"/>
              </a:defRPr>
            </a:defPPr>
          </a:lstStyle>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Identity: APP_USER, CUSTOMER, DELIVERY_PARTNER</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Catalogue: RESTAURANT, MENU_ITEM</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Transactions: FOOD_ORDER, ORDER_ITEM, PAYMENT, DELIVERY</a:t>
            </a:r>
          </a:p>
        </p:txBody>
      </p:sp>
      <p:sp>
        <p:nvSpPr>
          <p:cNvPr id="4" name="">
            <a:extLst xmlns:a="http://schemas.openxmlformats.org/drawingml/2006/main">
              <a:ext uri="{FF2B5EF4-FFF2-40B4-BE49-F238E27FC236}">
                <a16:creationId xmlns:a16="http://schemas.microsoft.com/office/drawing/2014/main" id="{3E8ECA48-41A8-464D-84A4-81A0B0D87AC5}"/>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05</a:t>
            </a:r>
          </a:p>
        </p:txBody>
      </p:sp>
    </p:spTree>
    <p:extLst>
      <p:ext uri="{BB962C8B-B14F-4D97-AF65-F5344CB8AC3E}">
        <p14:creationId xmlns:p14="http://schemas.microsoft.com/office/powerpoint/2010/main" val="2023866049"/>
      </p:ext>
    </p:extLst>
  </p:cSld>
</p:sld>
</file>

<file path=ppt/slides/slide6.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6C61CFE-0EC3-42FC-BD55-E1235484544E}"/>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PHASE 2 · DDL</a:t>
            </a:r>
          </a:p>
        </p:txBody>
      </p:sp>
      <p:sp>
        <p:nvSpPr>
          <p:cNvPr id="2" name="">
            <a:extLst xmlns:a="http://schemas.openxmlformats.org/drawingml/2006/main">
              <a:ext uri="{FF2B5EF4-FFF2-40B4-BE49-F238E27FC236}">
                <a16:creationId xmlns:a16="http://schemas.microsoft.com/office/drawing/2014/main" id="{8EA8DDEB-E53D-44CD-A591-6580A9F8F9A2}"/>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Keys and checks enforce valid records</a:t>
            </a:r>
          </a:p>
        </p:txBody>
      </p:sp>
      <p:sp>
        <p:nvSpPr>
          <p:cNvPr id="3" name="">
            <a:extLst xmlns:a="http://schemas.openxmlformats.org/drawingml/2006/main">
              <a:ext uri="{FF2B5EF4-FFF2-40B4-BE49-F238E27FC236}">
                <a16:creationId xmlns:a16="http://schemas.microsoft.com/office/drawing/2014/main" id="{C5691BA6-06AB-4B93-868C-1171FC1E0FDC}"/>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2"/>
                </a:solidFill>
                <a:latin typeface="Arial"/>
                <a:ea typeface="Arial"/>
                <a:cs typeface="Arial"/>
              </a:defRPr>
            </a:defPPr>
          </a:lstStyle>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Primary keys identify users, restaurants, orders and payments.</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Foreign keys connect orders to customers and menu items.</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Checks reject nonpositive prices and quantities.</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Unique keys prevent duplicate emails and repeat payments.</a:t>
            </a:r>
          </a:p>
        </p:txBody>
      </p:sp>
      <p:sp>
        <p:nvSpPr>
          <p:cNvPr id="4" name="">
            <a:extLst xmlns:a="http://schemas.openxmlformats.org/drawingml/2006/main">
              <a:ext uri="{FF2B5EF4-FFF2-40B4-BE49-F238E27FC236}">
                <a16:creationId xmlns:a16="http://schemas.microsoft.com/office/drawing/2014/main" id="{57F552E3-68FF-4A1E-91D7-B4596409A528}"/>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06</a:t>
            </a:r>
          </a:p>
        </p:txBody>
      </p:sp>
    </p:spTree>
    <p:extLst>
      <p:ext uri="{BB962C8B-B14F-4D97-AF65-F5344CB8AC3E}">
        <p14:creationId xmlns:p14="http://schemas.microsoft.com/office/powerpoint/2010/main" val="17537094"/>
      </p:ext>
    </p:extLst>
  </p:cSld>
</p:sld>
</file>

<file path=ppt/slides/slide7.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EC4B5A0-C225-444E-9245-64A65A64F83A}"/>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PHASE 2 · DDL EXAMPLE</a:t>
            </a:r>
          </a:p>
        </p:txBody>
      </p:sp>
      <p:sp>
        <p:nvSpPr>
          <p:cNvPr id="2" name="">
            <a:extLst xmlns:a="http://schemas.openxmlformats.org/drawingml/2006/main">
              <a:ext uri="{FF2B5EF4-FFF2-40B4-BE49-F238E27FC236}">
                <a16:creationId xmlns:a16="http://schemas.microsoft.com/office/drawing/2014/main" id="{3928743A-A071-4F5A-BD4C-D94EBDAEC62B}"/>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ORDER_ITEM preserves the agreed price</a:t>
            </a:r>
          </a:p>
        </p:txBody>
      </p:sp>
      <p:sp>
        <p:nvSpPr>
          <p:cNvPr id="3" name="">
            <a:extLst xmlns:a="http://schemas.openxmlformats.org/drawingml/2006/main">
              <a:ext uri="{FF2B5EF4-FFF2-40B4-BE49-F238E27FC236}">
                <a16:creationId xmlns:a16="http://schemas.microsoft.com/office/drawing/2014/main" id="{DE831AB3-CCCE-4DFE-A1D2-297CEB6E93E3}"/>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D32"/>
                </a:solidFill>
                <a:latin typeface="Arial"/>
                <a:ea typeface="Arial"/>
                <a:cs typeface="Arial"/>
              </a:defRPr>
            </a:defPPr>
          </a:lstStyle>
          <a:p xmlns:a="http://schemas.openxmlformats.org/drawingml/2006/main">
            <a:pPr>
              <a:defRPr sz="2025" b="0">
                <a:solidFill>
                  <a:srgbClr val="183D32"/>
                </a:solidFill>
                <a:latin typeface="Arial"/>
                <a:ea typeface="Arial"/>
                <a:cs typeface="Arial"/>
              </a:defRPr>
            </a:pPr>
            <a:r>
              <a:rPr sz="2025" b="0">
                <a:solidFill>
                  <a:srgbClr val="183D32"/>
                </a:solidFill>
                <a:latin typeface="Arial"/>
                <a:ea typeface="Arial"/>
                <a:cs typeface="Arial"/>
              </a:rPr>
              <a:t>CREATE TABLE ORDER_ITEM (</a:t>
            </a:r>
          </a:p>
          <a:p xmlns:a="http://schemas.openxmlformats.org/drawingml/2006/main">
            <a:pPr>
              <a:defRPr sz="2025" b="0">
                <a:solidFill>
                  <a:srgbClr val="183D32"/>
                </a:solidFill>
                <a:latin typeface="Arial"/>
                <a:ea typeface="Arial"/>
                <a:cs typeface="Arial"/>
              </a:defRPr>
            </a:pPr>
            <a:r>
              <a:rPr sz="2025" b="0">
                <a:solidFill>
                  <a:srgbClr val="183D32"/>
                </a:solidFill>
                <a:latin typeface="Arial"/>
                <a:ea typeface="Arial"/>
                <a:cs typeface="Arial"/>
              </a:rPr>
              <a:t>  order_id NUMBER REFERENCES FOOD_ORDER(order_id),</a:t>
            </a:r>
          </a:p>
          <a:p xmlns:a="http://schemas.openxmlformats.org/drawingml/2006/main">
            <a:pPr>
              <a:defRPr sz="2025" b="0">
                <a:solidFill>
                  <a:srgbClr val="183D32"/>
                </a:solidFill>
                <a:latin typeface="Arial"/>
                <a:ea typeface="Arial"/>
                <a:cs typeface="Arial"/>
              </a:defRPr>
            </a:pPr>
            <a:r>
              <a:rPr sz="2025" b="0">
                <a:solidFill>
                  <a:srgbClr val="183D32"/>
                </a:solidFill>
                <a:latin typeface="Arial"/>
                <a:ea typeface="Arial"/>
                <a:cs typeface="Arial"/>
              </a:rPr>
              <a:t>  item_id NUMBER REFERENCES MENU_ITEM(item_id),</a:t>
            </a:r>
          </a:p>
          <a:p xmlns:a="http://schemas.openxmlformats.org/drawingml/2006/main">
            <a:pPr>
              <a:defRPr sz="2025" b="0">
                <a:solidFill>
                  <a:srgbClr val="183D32"/>
                </a:solidFill>
                <a:latin typeface="Arial"/>
                <a:ea typeface="Arial"/>
                <a:cs typeface="Arial"/>
              </a:defRPr>
            </a:pPr>
            <a:r>
              <a:rPr sz="2025" b="0">
                <a:solidFill>
                  <a:srgbClr val="183D32"/>
                </a:solidFill>
                <a:latin typeface="Arial"/>
                <a:ea typeface="Arial"/>
                <a:cs typeface="Arial"/>
              </a:rPr>
              <a:t>  quantity NUMBER(4) NOT NULL CHECK (quantity &gt; 0),</a:t>
            </a:r>
          </a:p>
          <a:p xmlns:a="http://schemas.openxmlformats.org/drawingml/2006/main">
            <a:pPr>
              <a:defRPr sz="2025" b="0">
                <a:solidFill>
                  <a:srgbClr val="183D32"/>
                </a:solidFill>
                <a:latin typeface="Arial"/>
                <a:ea typeface="Arial"/>
                <a:cs typeface="Arial"/>
              </a:defRPr>
            </a:pPr>
            <a:r>
              <a:rPr sz="2025" b="0">
                <a:solidFill>
                  <a:srgbClr val="183D32"/>
                </a:solidFill>
                <a:latin typeface="Arial"/>
                <a:ea typeface="Arial"/>
                <a:cs typeface="Arial"/>
              </a:rPr>
              <a:t>  agreed_unit_price NUMBER(10,2) NOT NULL</a:t>
            </a:r>
          </a:p>
          <a:p xmlns:a="http://schemas.openxmlformats.org/drawingml/2006/main">
            <a:pPr>
              <a:defRPr sz="2025" b="0">
                <a:solidFill>
                  <a:srgbClr val="183D32"/>
                </a:solidFill>
                <a:latin typeface="Arial"/>
                <a:ea typeface="Arial"/>
                <a:cs typeface="Arial"/>
              </a:defRPr>
            </a:pPr>
            <a:r>
              <a:rPr sz="2025" b="0">
                <a:solidFill>
                  <a:srgbClr val="183D32"/>
                </a:solidFill>
                <a:latin typeface="Arial"/>
                <a:ea typeface="Arial"/>
                <a:cs typeface="Arial"/>
              </a:rPr>
              <a:t>    CHECK (agreed_unit_price &gt; 0),</a:t>
            </a:r>
          </a:p>
          <a:p xmlns:a="http://schemas.openxmlformats.org/drawingml/2006/main">
            <a:pPr>
              <a:defRPr sz="2025" b="0">
                <a:solidFill>
                  <a:srgbClr val="183D32"/>
                </a:solidFill>
                <a:latin typeface="Arial"/>
                <a:ea typeface="Arial"/>
                <a:cs typeface="Arial"/>
              </a:defRPr>
            </a:pPr>
            <a:r>
              <a:rPr sz="2025" b="0">
                <a:solidFill>
                  <a:srgbClr val="183D32"/>
                </a:solidFill>
                <a:latin typeface="Arial"/>
                <a:ea typeface="Arial"/>
                <a:cs typeface="Arial"/>
              </a:rPr>
              <a:t>  PRIMARY KEY (order_id, item_id)</a:t>
            </a:r>
          </a:p>
          <a:p xmlns:a="http://schemas.openxmlformats.org/drawingml/2006/main">
            <a:pPr>
              <a:defRPr sz="2025" b="0">
                <a:solidFill>
                  <a:srgbClr val="183D32"/>
                </a:solidFill>
                <a:latin typeface="Arial"/>
                <a:ea typeface="Arial"/>
                <a:cs typeface="Arial"/>
              </a:defRPr>
            </a:pPr>
            <a:r>
              <a:rPr sz="2025" b="0">
                <a:solidFill>
                  <a:srgbClr val="183D32"/>
                </a:solidFill>
                <a:latin typeface="Arial"/>
                <a:ea typeface="Arial"/>
                <a:cs typeface="Arial"/>
              </a:rPr>
              <a:t>);</a:t>
            </a:r>
          </a:p>
        </p:txBody>
      </p:sp>
      <p:sp>
        <p:nvSpPr>
          <p:cNvPr id="4" name="">
            <a:extLst xmlns:a="http://schemas.openxmlformats.org/drawingml/2006/main">
              <a:ext uri="{FF2B5EF4-FFF2-40B4-BE49-F238E27FC236}">
                <a16:creationId xmlns:a16="http://schemas.microsoft.com/office/drawing/2014/main" id="{A45D5ED7-61E9-4C91-9EAD-AFD01D1C5ED0}"/>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07</a:t>
            </a:r>
          </a:p>
        </p:txBody>
      </p:sp>
    </p:spTree>
    <p:extLst>
      <p:ext uri="{BB962C8B-B14F-4D97-AF65-F5344CB8AC3E}">
        <p14:creationId xmlns:p14="http://schemas.microsoft.com/office/powerpoint/2010/main" val="744266667"/>
      </p:ext>
    </p:extLst>
  </p:cSld>
</p:sld>
</file>

<file path=ppt/slides/slide8.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0ECCB0-395D-4777-BD7E-2696F369FE0C}"/>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PHASE 2 · DESIGN RATIONALE</a:t>
            </a:r>
          </a:p>
        </p:txBody>
      </p:sp>
      <p:sp>
        <p:nvSpPr>
          <p:cNvPr id="2" name="">
            <a:extLst xmlns:a="http://schemas.openxmlformats.org/drawingml/2006/main">
              <a:ext uri="{FF2B5EF4-FFF2-40B4-BE49-F238E27FC236}">
                <a16:creationId xmlns:a16="http://schemas.microsoft.com/office/drawing/2014/main" id="{88537F86-4320-4E56-9D8B-1EE45CD900E3}"/>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Separate identities, catalogue and order history</a:t>
            </a:r>
          </a:p>
        </p:txBody>
      </p:sp>
      <p:sp>
        <p:nvSpPr>
          <p:cNvPr id="3" name="">
            <a:extLst xmlns:a="http://schemas.openxmlformats.org/drawingml/2006/main">
              <a:ext uri="{FF2B5EF4-FFF2-40B4-BE49-F238E27FC236}">
                <a16:creationId xmlns:a16="http://schemas.microsoft.com/office/drawing/2014/main" id="{3252DDEA-66F7-47C9-87CB-4677659A3BC3}"/>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2"/>
                </a:solidFill>
                <a:latin typeface="Arial"/>
                <a:ea typeface="Arial"/>
                <a:cs typeface="Arial"/>
              </a:defRPr>
            </a:defPPr>
          </a:lstStyle>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1NF: scalar fields and a separate row for each ordered dish.</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2NF: quantity and agreed price describe the whole order-item key.</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3NF: customer and restaurant details stay in their own tables.</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Invoice totals derive from frozen line prices and the delivery fee.</a:t>
            </a:r>
          </a:p>
        </p:txBody>
      </p:sp>
      <p:sp>
        <p:nvSpPr>
          <p:cNvPr id="4" name="">
            <a:extLst xmlns:a="http://schemas.openxmlformats.org/drawingml/2006/main">
              <a:ext uri="{FF2B5EF4-FFF2-40B4-BE49-F238E27FC236}">
                <a16:creationId xmlns:a16="http://schemas.microsoft.com/office/drawing/2014/main" id="{3013E97B-ACA0-4734-9C31-052A9CEBE52F}"/>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08</a:t>
            </a:r>
          </a:p>
        </p:txBody>
      </p:sp>
    </p:spTree>
    <p:extLst>
      <p:ext uri="{BB962C8B-B14F-4D97-AF65-F5344CB8AC3E}">
        <p14:creationId xmlns:p14="http://schemas.microsoft.com/office/powerpoint/2010/main" val="850645055"/>
      </p:ext>
    </p:extLst>
  </p:cSld>
</p:sld>
</file>

<file path=ppt/slides/slide9.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48AFC66-9665-4A1A-B056-44AEADD0DB6A}"/>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PHASE 2 · DML</a:t>
            </a:r>
          </a:p>
        </p:txBody>
      </p:sp>
      <p:sp>
        <p:nvSpPr>
          <p:cNvPr id="2" name="">
            <a:extLst xmlns:a="http://schemas.openxmlformats.org/drawingml/2006/main">
              <a:ext uri="{FF2B5EF4-FFF2-40B4-BE49-F238E27FC236}">
                <a16:creationId xmlns:a16="http://schemas.microsoft.com/office/drawing/2014/main" id="{D7BDF218-FE44-48A5-A940-C0F56664FE32}"/>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Sample records support a complete order journey</a:t>
            </a:r>
          </a:p>
        </p:txBody>
      </p:sp>
      <p:sp>
        <p:nvSpPr>
          <p:cNvPr id="3" name="">
            <a:extLst xmlns:a="http://schemas.openxmlformats.org/drawingml/2006/main">
              <a:ext uri="{FF2B5EF4-FFF2-40B4-BE49-F238E27FC236}">
                <a16:creationId xmlns:a16="http://schemas.microsoft.com/office/drawing/2014/main" id="{811536E4-7C87-4983-AA2D-D1462BF090D6}"/>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2"/>
                </a:solidFill>
                <a:latin typeface="Arial"/>
                <a:ea typeface="Arial"/>
                <a:cs typeface="Arial"/>
              </a:defRPr>
            </a:defPPr>
          </a:lstStyle>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Seed users and subtype rows before dependent records.</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Load restaurants before menu items.</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Load order headers before items, payments and deliveries.</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Use available and unavailable dishes to demonstrate validation.</a:t>
            </a:r>
          </a:p>
        </p:txBody>
      </p:sp>
      <p:sp>
        <p:nvSpPr>
          <p:cNvPr id="4" name="">
            <a:extLst xmlns:a="http://schemas.openxmlformats.org/drawingml/2006/main">
              <a:ext uri="{FF2B5EF4-FFF2-40B4-BE49-F238E27FC236}">
                <a16:creationId xmlns:a16="http://schemas.microsoft.com/office/drawing/2014/main" id="{B0924248-49F5-4FD5-B576-B81362BFD0C6}"/>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09</a:t>
            </a:r>
          </a:p>
        </p:txBody>
      </p:sp>
    </p:spTree>
    <p:extLst>
      <p:ext uri="{BB962C8B-B14F-4D97-AF65-F5344CB8AC3E}">
        <p14:creationId xmlns:p14="http://schemas.microsoft.com/office/powerpoint/2010/main" val="1272668585"/>
      </p:ext>
    </p:extLst>
  </p:cSld>
</p:sld>
</file>

<file path=ppt/slides/slide10.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847986B-5D2E-4BFA-A441-A580A1145321}"/>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PHASE 2 · DML EXAMPLE</a:t>
            </a:r>
          </a:p>
        </p:txBody>
      </p:sp>
      <p:sp>
        <p:nvSpPr>
          <p:cNvPr id="2" name="">
            <a:extLst xmlns:a="http://schemas.openxmlformats.org/drawingml/2006/main">
              <a:ext uri="{FF2B5EF4-FFF2-40B4-BE49-F238E27FC236}">
                <a16:creationId xmlns:a16="http://schemas.microsoft.com/office/drawing/2014/main" id="{A3482187-7D35-4744-945C-2C40CB962ECE}"/>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A menu record connects a dish to its restaurant</a:t>
            </a:r>
          </a:p>
        </p:txBody>
      </p:sp>
      <p:sp>
        <p:nvSpPr>
          <p:cNvPr id="3" name="">
            <a:extLst xmlns:a="http://schemas.openxmlformats.org/drawingml/2006/main">
              <a:ext uri="{FF2B5EF4-FFF2-40B4-BE49-F238E27FC236}">
                <a16:creationId xmlns:a16="http://schemas.microsoft.com/office/drawing/2014/main" id="{DBEE475C-43E6-4976-83F3-72A3FE4BEDB9}"/>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D32"/>
                </a:solidFill>
                <a:latin typeface="Arial"/>
                <a:ea typeface="Arial"/>
                <a:cs typeface="Arial"/>
              </a:defRPr>
            </a:defPPr>
          </a:lstStyle>
          <a:p xmlns:a="http://schemas.openxmlformats.org/drawingml/2006/main">
            <a:pPr>
              <a:defRPr sz="2025" b="0">
                <a:solidFill>
                  <a:srgbClr val="183D32"/>
                </a:solidFill>
                <a:latin typeface="Arial"/>
                <a:ea typeface="Arial"/>
                <a:cs typeface="Arial"/>
              </a:defRPr>
            </a:pPr>
            <a:r>
              <a:rPr sz="2025" b="0">
                <a:solidFill>
                  <a:srgbClr val="183D32"/>
                </a:solidFill>
                <a:latin typeface="Arial"/>
                <a:ea typeface="Arial"/>
                <a:cs typeface="Arial"/>
              </a:rPr>
              <a:t>INSERT INTO MENU_ITEM</a:t>
            </a:r>
          </a:p>
          <a:p xmlns:a="http://schemas.openxmlformats.org/drawingml/2006/main">
            <a:pPr>
              <a:defRPr sz="2025" b="0">
                <a:solidFill>
                  <a:srgbClr val="183D32"/>
                </a:solidFill>
                <a:latin typeface="Arial"/>
                <a:ea typeface="Arial"/>
                <a:cs typeface="Arial"/>
              </a:defRPr>
            </a:pPr>
            <a:r>
              <a:rPr sz="2025" b="0">
                <a:solidFill>
                  <a:srgbClr val="183D32"/>
                </a:solidFill>
                <a:latin typeface="Arial"/>
                <a:ea typeface="Arial"/>
                <a:cs typeface="Arial"/>
              </a:rPr>
              <a:t>  (restaurant_id, item_name, category,</a:t>
            </a:r>
          </a:p>
          <a:p xmlns:a="http://schemas.openxmlformats.org/drawingml/2006/main">
            <a:pPr>
              <a:defRPr sz="2025" b="0">
                <a:solidFill>
                  <a:srgbClr val="183D32"/>
                </a:solidFill>
                <a:latin typeface="Arial"/>
                <a:ea typeface="Arial"/>
                <a:cs typeface="Arial"/>
              </a:defRPr>
            </a:pPr>
            <a:r>
              <a:rPr sz="2025" b="0">
                <a:solidFill>
                  <a:srgbClr val="183D32"/>
                </a:solidFill>
                <a:latin typeface="Arial"/>
                <a:ea typeface="Arial"/>
                <a:cs typeface="Arial"/>
              </a:rPr>
              <a:t>   current_price, is_available)</a:t>
            </a:r>
          </a:p>
          <a:p xmlns:a="http://schemas.openxmlformats.org/drawingml/2006/main">
            <a:pPr>
              <a:defRPr sz="2025" b="0">
                <a:solidFill>
                  <a:srgbClr val="183D32"/>
                </a:solidFill>
                <a:latin typeface="Arial"/>
                <a:ea typeface="Arial"/>
                <a:cs typeface="Arial"/>
              </a:defRPr>
            </a:pPr>
            <a:r>
              <a:rPr sz="2025" b="0">
                <a:solidFill>
                  <a:srgbClr val="183D32"/>
                </a:solidFill>
                <a:latin typeface="Arial"/>
                <a:ea typeface="Arial"/>
                <a:cs typeface="Arial"/>
              </a:rPr>
              <a:t>VALUES (1, 'Demo dish', 'Main', 250.00, 1);</a:t>
            </a:r>
          </a:p>
          <a:p xmlns:a="http://schemas.openxmlformats.org/drawingml/2006/main">
            <a:r>
              <a:t/>
            </a:r>
          </a:p>
          <a:p xmlns:a="http://schemas.openxmlformats.org/drawingml/2006/main">
            <a:pPr>
              <a:defRPr sz="2025" b="0">
                <a:solidFill>
                  <a:srgbClr val="183D32"/>
                </a:solidFill>
                <a:latin typeface="Arial"/>
                <a:ea typeface="Arial"/>
                <a:cs typeface="Arial"/>
              </a:defRPr>
            </a:pPr>
            <a:r>
              <a:rPr sz="2025" b="0">
                <a:solidFill>
                  <a:srgbClr val="183D32"/>
                </a:solidFill>
                <a:latin typeface="Arial"/>
                <a:ea typeface="Arial"/>
                <a:cs typeface="Arial"/>
              </a:rPr>
              <a:t>SELECT item_name, current_price</a:t>
            </a:r>
          </a:p>
          <a:p xmlns:a="http://schemas.openxmlformats.org/drawingml/2006/main">
            <a:pPr>
              <a:defRPr sz="2025" b="0">
                <a:solidFill>
                  <a:srgbClr val="183D32"/>
                </a:solidFill>
                <a:latin typeface="Arial"/>
                <a:ea typeface="Arial"/>
                <a:cs typeface="Arial"/>
              </a:defRPr>
            </a:pPr>
            <a:r>
              <a:rPr sz="2025" b="0">
                <a:solidFill>
                  <a:srgbClr val="183D32"/>
                </a:solidFill>
                <a:latin typeface="Arial"/>
                <a:ea typeface="Arial"/>
                <a:cs typeface="Arial"/>
              </a:rPr>
              <a:t>FROM MENU_ITEM WHERE restaurant_id = 1;</a:t>
            </a:r>
          </a:p>
        </p:txBody>
      </p:sp>
      <p:sp>
        <p:nvSpPr>
          <p:cNvPr id="4" name="">
            <a:extLst xmlns:a="http://schemas.openxmlformats.org/drawingml/2006/main">
              <a:ext uri="{FF2B5EF4-FFF2-40B4-BE49-F238E27FC236}">
                <a16:creationId xmlns:a16="http://schemas.microsoft.com/office/drawing/2014/main" id="{3FF75DAC-4D14-478E-9A80-09A5B4FA96E3}"/>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10</a:t>
            </a:r>
          </a:p>
        </p:txBody>
      </p:sp>
    </p:spTree>
    <p:extLst>
      <p:ext uri="{BB962C8B-B14F-4D97-AF65-F5344CB8AC3E}">
        <p14:creationId xmlns:p14="http://schemas.microsoft.com/office/powerpoint/2010/main" val="64138741"/>
      </p:ext>
    </p:extLst>
  </p:cSld>
</p:sld>
</file>

<file path=ppt/slides/slide11.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A9F928-01AD-4340-9B31-57E4B4B300D3}"/>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PHASE 2 · FRONTEND</a:t>
            </a:r>
          </a:p>
        </p:txBody>
      </p:sp>
      <p:sp>
        <p:nvSpPr>
          <p:cNvPr id="2" name="">
            <a:extLst xmlns:a="http://schemas.openxmlformats.org/drawingml/2006/main">
              <a:ext uri="{FF2B5EF4-FFF2-40B4-BE49-F238E27FC236}">
                <a16:creationId xmlns:a16="http://schemas.microsoft.com/office/drawing/2014/main" id="{5FD6B4F5-8AF9-4D75-B075-74CBE5BD0CC3}"/>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The interface follows each user’s task</a:t>
            </a:r>
          </a:p>
        </p:txBody>
      </p:sp>
      <p:sp>
        <p:nvSpPr>
          <p:cNvPr id="3" name="">
            <a:extLst xmlns:a="http://schemas.openxmlformats.org/drawingml/2006/main">
              <a:ext uri="{FF2B5EF4-FFF2-40B4-BE49-F238E27FC236}">
                <a16:creationId xmlns:a16="http://schemas.microsoft.com/office/drawing/2014/main" id="{D23034BC-464A-4C4D-ACAD-1F4E732BE2DF}"/>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2"/>
                </a:solidFill>
                <a:latin typeface="Arial"/>
                <a:ea typeface="Arial"/>
                <a:cs typeface="Arial"/>
              </a:defRPr>
            </a:defPPr>
          </a:lstStyle>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Customer: browse restaurants, choose dishes and check out.</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Operator: inspect the order queue and change preparation status.</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Courier: view delivery work.</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Admin: inspect database metrics and demonstration tools.</a:t>
            </a:r>
          </a:p>
        </p:txBody>
      </p:sp>
      <p:sp>
        <p:nvSpPr>
          <p:cNvPr id="4" name="">
            <a:extLst xmlns:a="http://schemas.openxmlformats.org/drawingml/2006/main">
              <a:ext uri="{FF2B5EF4-FFF2-40B4-BE49-F238E27FC236}">
                <a16:creationId xmlns:a16="http://schemas.microsoft.com/office/drawing/2014/main" id="{E9DEC377-1116-4895-890C-E37AEA8021CE}"/>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11</a:t>
            </a:r>
          </a:p>
        </p:txBody>
      </p:sp>
    </p:spTree>
    <p:extLst>
      <p:ext uri="{BB962C8B-B14F-4D97-AF65-F5344CB8AC3E}">
        <p14:creationId xmlns:p14="http://schemas.microsoft.com/office/powerpoint/2010/main" val="416452257"/>
      </p:ext>
    </p:extLst>
  </p:cSld>
</p:sld>
</file>

<file path=ppt/slides/slide12.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A6E9B8F-B14C-4290-8A85-BE756871C169}"/>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PHASE 2 · BUSINESS LOGIC</a:t>
            </a:r>
          </a:p>
        </p:txBody>
      </p:sp>
      <p:sp>
        <p:nvSpPr>
          <p:cNvPr id="2" name="">
            <a:extLst xmlns:a="http://schemas.openxmlformats.org/drawingml/2006/main">
              <a:ext uri="{FF2B5EF4-FFF2-40B4-BE49-F238E27FC236}">
                <a16:creationId xmlns:a16="http://schemas.microsoft.com/office/drawing/2014/main" id="{CAAE9D00-D6B4-4602-B014-DBA682418AD9}"/>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The server validates an order before insertion</a:t>
            </a:r>
          </a:p>
        </p:txBody>
      </p:sp>
      <p:sp>
        <p:nvSpPr>
          <p:cNvPr id="3" name="">
            <a:extLst xmlns:a="http://schemas.openxmlformats.org/drawingml/2006/main">
              <a:ext uri="{FF2B5EF4-FFF2-40B4-BE49-F238E27FC236}">
                <a16:creationId xmlns:a16="http://schemas.microsoft.com/office/drawing/2014/main" id="{95171A23-1575-4280-9AC1-873515CE0974}"/>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2"/>
                </a:solidFill>
                <a:latin typeface="Arial"/>
                <a:ea typeface="Arial"/>
                <a:cs typeface="Arial"/>
              </a:defRPr>
            </a:defPPr>
          </a:lstStyle>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Reject an empty cart or a nonpositive quantity.</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Reject unavailable dishes and items from another restaurant.</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Read menu prices from the database.</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Calculate the subtotal and add the fixed Rs 50 delivery fee.</a:t>
            </a:r>
          </a:p>
        </p:txBody>
      </p:sp>
      <p:sp>
        <p:nvSpPr>
          <p:cNvPr id="4" name="">
            <a:extLst xmlns:a="http://schemas.openxmlformats.org/drawingml/2006/main">
              <a:ext uri="{FF2B5EF4-FFF2-40B4-BE49-F238E27FC236}">
                <a16:creationId xmlns:a16="http://schemas.microsoft.com/office/drawing/2014/main" id="{0781CD86-19C0-455A-A515-06B49D485C79}"/>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12</a:t>
            </a:r>
          </a:p>
        </p:txBody>
      </p:sp>
    </p:spTree>
    <p:extLst>
      <p:ext uri="{BB962C8B-B14F-4D97-AF65-F5344CB8AC3E}">
        <p14:creationId xmlns:p14="http://schemas.microsoft.com/office/powerpoint/2010/main" val="1512369537"/>
      </p:ext>
    </p:extLst>
  </p:cSld>
</p:sld>
</file>

<file path=ppt/slides/slide13.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F2F4D0-E143-4A8B-96A5-59D63F58B409}"/>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PHASE 2 · TRANSACTIONS</a:t>
            </a:r>
          </a:p>
        </p:txBody>
      </p:sp>
      <p:sp>
        <p:nvSpPr>
          <p:cNvPr id="2" name="">
            <a:extLst xmlns:a="http://schemas.openxmlformats.org/drawingml/2006/main">
              <a:ext uri="{FF2B5EF4-FFF2-40B4-BE49-F238E27FC236}">
                <a16:creationId xmlns:a16="http://schemas.microsoft.com/office/drawing/2014/main" id="{A3FAA929-75AE-4D3B-B83B-14A66B877570}"/>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Checkout commits the header, lines and payment together</a:t>
            </a:r>
          </a:p>
        </p:txBody>
      </p:sp>
      <p:sp>
        <p:nvSpPr>
          <p:cNvPr id="3" name="">
            <a:extLst xmlns:a="http://schemas.openxmlformats.org/drawingml/2006/main">
              <a:ext uri="{FF2B5EF4-FFF2-40B4-BE49-F238E27FC236}">
                <a16:creationId xmlns:a16="http://schemas.microsoft.com/office/drawing/2014/main" id="{E5803A27-9768-46E8-BEF3-A4E951929813}"/>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2"/>
                </a:solidFill>
                <a:latin typeface="Arial"/>
                <a:ea typeface="Arial"/>
                <a:cs typeface="Arial"/>
              </a:defRPr>
            </a:defPPr>
          </a:lstStyle>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@Transactional wraps OrderService.placeOrder().</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FOOD_ORDER stores the header and delivery address.</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ORDER_ITEM stores quantity and agreed unit price.</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PAYMENT stores the calculated amount and chosen method.</a:t>
            </a:r>
          </a:p>
        </p:txBody>
      </p:sp>
      <p:sp>
        <p:nvSpPr>
          <p:cNvPr id="4" name="">
            <a:extLst xmlns:a="http://schemas.openxmlformats.org/drawingml/2006/main">
              <a:ext uri="{FF2B5EF4-FFF2-40B4-BE49-F238E27FC236}">
                <a16:creationId xmlns:a16="http://schemas.microsoft.com/office/drawing/2014/main" id="{465E481E-3300-4D59-8572-20B5AD0D5C11}"/>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13</a:t>
            </a:r>
          </a:p>
        </p:txBody>
      </p:sp>
    </p:spTree>
    <p:extLst>
      <p:ext uri="{BB962C8B-B14F-4D97-AF65-F5344CB8AC3E}">
        <p14:creationId xmlns:p14="http://schemas.microsoft.com/office/powerpoint/2010/main" val="571656641"/>
      </p:ext>
    </p:extLst>
  </p:cSld>
</p:sld>
</file>

<file path=ppt/slides/slide14.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18A2518-960F-4238-A409-21DF6644FDDD}"/>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PHASE 2 · INITIAL JDBC</a:t>
            </a:r>
          </a:p>
        </p:txBody>
      </p:sp>
      <p:sp>
        <p:nvSpPr>
          <p:cNvPr id="2" name="">
            <a:extLst xmlns:a="http://schemas.openxmlformats.org/drawingml/2006/main">
              <a:ext uri="{FF2B5EF4-FFF2-40B4-BE49-F238E27FC236}">
                <a16:creationId xmlns:a16="http://schemas.microsoft.com/office/drawing/2014/main" id="{4A912F7D-C80C-402E-B31F-5B47892ABABE}"/>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A prepared query retrieves restaurant menu items</a:t>
            </a:r>
          </a:p>
        </p:txBody>
      </p:sp>
      <p:sp>
        <p:nvSpPr>
          <p:cNvPr id="3" name="">
            <a:extLst xmlns:a="http://schemas.openxmlformats.org/drawingml/2006/main">
              <a:ext uri="{FF2B5EF4-FFF2-40B4-BE49-F238E27FC236}">
                <a16:creationId xmlns:a16="http://schemas.microsoft.com/office/drawing/2014/main" id="{78D7BE03-978B-4D5B-9C5C-40162B120DF9}"/>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D32"/>
                </a:solidFill>
                <a:latin typeface="Arial"/>
                <a:ea typeface="Arial"/>
                <a:cs typeface="Arial"/>
              </a:defRPr>
            </a:defPPr>
          </a:lstStyle>
          <a:p xmlns:a="http://schemas.openxmlformats.org/drawingml/2006/main">
            <a:pPr>
              <a:defRPr sz="2025" b="0">
                <a:solidFill>
                  <a:srgbClr val="183D32"/>
                </a:solidFill>
                <a:latin typeface="Arial"/>
                <a:ea typeface="Arial"/>
                <a:cs typeface="Arial"/>
              </a:defRPr>
            </a:pPr>
            <a:r>
              <a:rPr sz="2025" b="0">
                <a:solidFill>
                  <a:srgbClr val="183D32"/>
                </a:solidFill>
                <a:latin typeface="Arial"/>
                <a:ea typeface="Arial"/>
                <a:cs typeface="Arial"/>
              </a:rPr>
              <a:t>SELECT item_id, restaurant_id, item_name,</a:t>
            </a:r>
          </a:p>
          <a:p xmlns:a="http://schemas.openxmlformats.org/drawingml/2006/main">
            <a:pPr>
              <a:defRPr sz="2025" b="0">
                <a:solidFill>
                  <a:srgbClr val="183D32"/>
                </a:solidFill>
                <a:latin typeface="Arial"/>
                <a:ea typeface="Arial"/>
                <a:cs typeface="Arial"/>
              </a:defRPr>
            </a:pPr>
            <a:r>
              <a:rPr sz="2025" b="0">
                <a:solidFill>
                  <a:srgbClr val="183D32"/>
                </a:solidFill>
                <a:latin typeface="Arial"/>
                <a:ea typeface="Arial"/>
                <a:cs typeface="Arial"/>
              </a:rPr>
              <a:t>       category, current_price, is_available</a:t>
            </a:r>
          </a:p>
          <a:p xmlns:a="http://schemas.openxmlformats.org/drawingml/2006/main">
            <a:pPr>
              <a:defRPr sz="2025" b="0">
                <a:solidFill>
                  <a:srgbClr val="183D32"/>
                </a:solidFill>
                <a:latin typeface="Arial"/>
                <a:ea typeface="Arial"/>
                <a:cs typeface="Arial"/>
              </a:defRPr>
            </a:pPr>
            <a:r>
              <a:rPr sz="2025" b="0">
                <a:solidFill>
                  <a:srgbClr val="183D32"/>
                </a:solidFill>
                <a:latin typeface="Arial"/>
                <a:ea typeface="Arial"/>
                <a:cs typeface="Arial"/>
              </a:rPr>
              <a:t>FROM MENU_ITEM</a:t>
            </a:r>
          </a:p>
          <a:p xmlns:a="http://schemas.openxmlformats.org/drawingml/2006/main">
            <a:pPr>
              <a:defRPr sz="2025" b="0">
                <a:solidFill>
                  <a:srgbClr val="183D32"/>
                </a:solidFill>
                <a:latin typeface="Arial"/>
                <a:ea typeface="Arial"/>
                <a:cs typeface="Arial"/>
              </a:defRPr>
            </a:pPr>
            <a:r>
              <a:rPr sz="2025" b="0">
                <a:solidFill>
                  <a:srgbClr val="183D32"/>
                </a:solidFill>
                <a:latin typeface="Arial"/>
                <a:ea typeface="Arial"/>
                <a:cs typeface="Arial"/>
              </a:rPr>
              <a:t>WHERE restaurant_id = ?</a:t>
            </a:r>
          </a:p>
          <a:p xmlns:a="http://schemas.openxmlformats.org/drawingml/2006/main">
            <a:pPr>
              <a:defRPr sz="2025" b="0">
                <a:solidFill>
                  <a:srgbClr val="183D32"/>
                </a:solidFill>
                <a:latin typeface="Arial"/>
                <a:ea typeface="Arial"/>
                <a:cs typeface="Arial"/>
              </a:defRPr>
            </a:pPr>
            <a:r>
              <a:rPr sz="2025" b="0">
                <a:solidFill>
                  <a:srgbClr val="183D32"/>
                </a:solidFill>
                <a:latin typeface="Arial"/>
                <a:ea typeface="Arial"/>
                <a:cs typeface="Arial"/>
              </a:rPr>
              <a:t>ORDER BY category, item_name;</a:t>
            </a:r>
          </a:p>
        </p:txBody>
      </p:sp>
      <p:sp>
        <p:nvSpPr>
          <p:cNvPr id="4" name="">
            <a:extLst xmlns:a="http://schemas.openxmlformats.org/drawingml/2006/main">
              <a:ext uri="{FF2B5EF4-FFF2-40B4-BE49-F238E27FC236}">
                <a16:creationId xmlns:a16="http://schemas.microsoft.com/office/drawing/2014/main" id="{03543B80-C13E-48D6-B205-B40B422FF3C2}"/>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14</a:t>
            </a:r>
          </a:p>
        </p:txBody>
      </p:sp>
    </p:spTree>
    <p:extLst>
      <p:ext uri="{BB962C8B-B14F-4D97-AF65-F5344CB8AC3E}">
        <p14:creationId xmlns:p14="http://schemas.microsoft.com/office/powerpoint/2010/main" val="582270388"/>
      </p:ext>
    </p:extLst>
  </p:cSld>
</p:sld>
</file>

<file path=ppt/slides/slide15.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6E62517-7B9B-4B76-9A9C-F7DE33607D64}"/>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PHASE 3 · CRUD INTEGRATION</a:t>
            </a:r>
          </a:p>
        </p:txBody>
      </p:sp>
      <p:sp>
        <p:nvSpPr>
          <p:cNvPr id="2" name="">
            <a:extLst xmlns:a="http://schemas.openxmlformats.org/drawingml/2006/main">
              <a:ext uri="{FF2B5EF4-FFF2-40B4-BE49-F238E27FC236}">
                <a16:creationId xmlns:a16="http://schemas.microsoft.com/office/drawing/2014/main" id="{481E1539-7BB5-4A05-AA27-681EB7270AFC}"/>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Create, read and update have backend endpoints</a:t>
            </a:r>
          </a:p>
        </p:txBody>
      </p:sp>
      <p:sp>
        <p:nvSpPr>
          <p:cNvPr id="3" name="">
            <a:extLst xmlns:a="http://schemas.openxmlformats.org/drawingml/2006/main">
              <a:ext uri="{FF2B5EF4-FFF2-40B4-BE49-F238E27FC236}">
                <a16:creationId xmlns:a16="http://schemas.microsoft.com/office/drawing/2014/main" id="{5E927F33-1186-434E-AF97-7CEDC112E66F}"/>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2"/>
                </a:solidFill>
                <a:latin typeface="Arial"/>
                <a:ea typeface="Arial"/>
                <a:cs typeface="Arial"/>
              </a:defRPr>
            </a:defPPr>
          </a:lstStyle>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CREATE: POST /api/menu-items and POST /api/orders</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READ: GET /api/restaurants and GET /api/orders/{id}</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UPDATE: PATCH /api/menu-items/{id}/price</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DELETE: no backend delete endpoint found</a:t>
            </a:r>
          </a:p>
        </p:txBody>
      </p:sp>
      <p:sp>
        <p:nvSpPr>
          <p:cNvPr id="4" name="">
            <a:extLst xmlns:a="http://schemas.openxmlformats.org/drawingml/2006/main">
              <a:ext uri="{FF2B5EF4-FFF2-40B4-BE49-F238E27FC236}">
                <a16:creationId xmlns:a16="http://schemas.microsoft.com/office/drawing/2014/main" id="{68115B66-5E29-47E0-BA4F-D48A268E85B0}"/>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15</a:t>
            </a:r>
          </a:p>
        </p:txBody>
      </p:sp>
    </p:spTree>
    <p:extLst>
      <p:ext uri="{BB962C8B-B14F-4D97-AF65-F5344CB8AC3E}">
        <p14:creationId xmlns:p14="http://schemas.microsoft.com/office/powerpoint/2010/main" val="310281765"/>
      </p:ext>
    </p:extLst>
  </p:cSld>
</p:sld>
</file>

<file path=ppt/slides/slide16.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4C276E9-80D0-47BE-AF35-8377A49D92D9}"/>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PHASE 3 · CONNECTION EVIDENCE</a:t>
            </a:r>
          </a:p>
        </p:txBody>
      </p:sp>
      <p:sp>
        <p:nvSpPr>
          <p:cNvPr id="2" name="">
            <a:extLst xmlns:a="http://schemas.openxmlformats.org/drawingml/2006/main">
              <a:ext uri="{FF2B5EF4-FFF2-40B4-BE49-F238E27FC236}">
                <a16:creationId xmlns:a16="http://schemas.microsoft.com/office/drawing/2014/main" id="{E8C12033-B1EB-4D55-AE45-D6B467309AFA}"/>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A successful page load is only the first check</a:t>
            </a:r>
          </a:p>
        </p:txBody>
      </p:sp>
      <p:sp>
        <p:nvSpPr>
          <p:cNvPr id="3" name="">
            <a:extLst xmlns:a="http://schemas.openxmlformats.org/drawingml/2006/main">
              <a:ext uri="{FF2B5EF4-FFF2-40B4-BE49-F238E27FC236}">
                <a16:creationId xmlns:a16="http://schemas.microsoft.com/office/drawing/2014/main" id="{D5CD584D-FF4D-42F0-AAEC-8134DB2326CD}"/>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2"/>
                </a:solidFill>
                <a:latin typeface="Arial"/>
                <a:ea typeface="Arial"/>
                <a:cs typeface="Arial"/>
              </a:defRPr>
            </a:defPPr>
          </a:lstStyle>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Verify /api/health/db with an actual JDBC query.</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Create an order and retrieve it by its returned ID.</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Confirm its item and payment rows in the database.</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Check persistence separately from the frontend fallback store.</a:t>
            </a:r>
          </a:p>
        </p:txBody>
      </p:sp>
      <p:sp>
        <p:nvSpPr>
          <p:cNvPr id="4" name="">
            <a:extLst xmlns:a="http://schemas.openxmlformats.org/drawingml/2006/main">
              <a:ext uri="{FF2B5EF4-FFF2-40B4-BE49-F238E27FC236}">
                <a16:creationId xmlns:a16="http://schemas.microsoft.com/office/drawing/2014/main" id="{42FDD4FE-5122-43CB-90C7-D5B8C9CB5CF5}"/>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16</a:t>
            </a:r>
          </a:p>
        </p:txBody>
      </p:sp>
    </p:spTree>
    <p:extLst>
      <p:ext uri="{BB962C8B-B14F-4D97-AF65-F5344CB8AC3E}">
        <p14:creationId xmlns:p14="http://schemas.microsoft.com/office/powerpoint/2010/main" val="1216342865"/>
      </p:ext>
    </p:extLst>
  </p:cSld>
</p:sld>
</file>

<file path=ppt/slides/slide17.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497C8AB-BF1C-44E9-B8CD-CE516048E163}"/>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PHASE 3 · TEST RESULTS</a:t>
            </a:r>
          </a:p>
        </p:txBody>
      </p:sp>
      <p:sp>
        <p:nvSpPr>
          <p:cNvPr id="2" name="">
            <a:extLst xmlns:a="http://schemas.openxmlformats.org/drawingml/2006/main">
              <a:ext uri="{FF2B5EF4-FFF2-40B4-BE49-F238E27FC236}">
                <a16:creationId xmlns:a16="http://schemas.microsoft.com/office/drawing/2014/main" id="{61180930-B2CB-4ADF-B0FF-BC5F5CCE215B}"/>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12 tests passed in the current backend run</a:t>
            </a:r>
          </a:p>
        </p:txBody>
      </p:sp>
      <p:sp>
        <p:nvSpPr>
          <p:cNvPr id="3" name="">
            <a:extLst xmlns:a="http://schemas.openxmlformats.org/drawingml/2006/main">
              <a:ext uri="{FF2B5EF4-FFF2-40B4-BE49-F238E27FC236}">
                <a16:creationId xmlns:a16="http://schemas.microsoft.com/office/drawing/2014/main" id="{BCEA5629-90A7-492E-9708-70450AA5649F}"/>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2"/>
                </a:solidFill>
                <a:latin typeface="Arial"/>
                <a:ea typeface="Arial"/>
                <a:cs typeface="Arial"/>
              </a:defRPr>
            </a:defPPr>
          </a:lstStyle>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12 executed · 0 failures · 0 errors · 0 skipped</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Coverage includes retrieval, order persistence and pricing.</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Negative cases cover availability, quantities and uniqueness.</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Run: mvn test</a:t>
            </a:r>
          </a:p>
        </p:txBody>
      </p:sp>
      <p:sp>
        <p:nvSpPr>
          <p:cNvPr id="4" name="">
            <a:extLst xmlns:a="http://schemas.openxmlformats.org/drawingml/2006/main">
              <a:ext uri="{FF2B5EF4-FFF2-40B4-BE49-F238E27FC236}">
                <a16:creationId xmlns:a16="http://schemas.microsoft.com/office/drawing/2014/main" id="{96826772-E58B-421B-87FB-4E0F2C0A007C}"/>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17</a:t>
            </a:r>
          </a:p>
        </p:txBody>
      </p:sp>
    </p:spTree>
    <p:extLst>
      <p:ext uri="{BB962C8B-B14F-4D97-AF65-F5344CB8AC3E}">
        <p14:creationId xmlns:p14="http://schemas.microsoft.com/office/powerpoint/2010/main" val="1459294259"/>
      </p:ext>
    </p:extLst>
  </p:cSld>
</p:sld>
</file>

<file path=ppt/slides/slide18.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6EA4EB6-5886-4C24-9B76-D6CA9509D97E}"/>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PHASE 3 · ERROR HANDLING</a:t>
            </a:r>
          </a:p>
        </p:txBody>
      </p:sp>
      <p:sp>
        <p:nvSpPr>
          <p:cNvPr id="2" name="">
            <a:extLst xmlns:a="http://schemas.openxmlformats.org/drawingml/2006/main">
              <a:ext uri="{FF2B5EF4-FFF2-40B4-BE49-F238E27FC236}">
                <a16:creationId xmlns:a16="http://schemas.microsoft.com/office/drawing/2014/main" id="{60346615-0543-4549-B75B-83EFFEC0E93F}"/>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Invalid requests produce structured responses</a:t>
            </a:r>
          </a:p>
        </p:txBody>
      </p:sp>
      <p:sp>
        <p:nvSpPr>
          <p:cNvPr id="3" name="">
            <a:extLst xmlns:a="http://schemas.openxmlformats.org/drawingml/2006/main">
              <a:ext uri="{FF2B5EF4-FFF2-40B4-BE49-F238E27FC236}">
                <a16:creationId xmlns:a16="http://schemas.microsoft.com/office/drawing/2014/main" id="{5A3F4E4E-B67A-46C8-B8E8-CEE9C9186D79}"/>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2"/>
                </a:solidFill>
                <a:latin typeface="Arial"/>
                <a:ea typeface="Arial"/>
                <a:cs typeface="Arial"/>
              </a:defRPr>
            </a:defPPr>
          </a:lstStyle>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400: validation or workflow rule failure</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404: requested resource does not exist</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409: unique, foreign-key or check constraint failure</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500: unexpected server failure</a:t>
            </a:r>
          </a:p>
        </p:txBody>
      </p:sp>
      <p:sp>
        <p:nvSpPr>
          <p:cNvPr id="4" name="">
            <a:extLst xmlns:a="http://schemas.openxmlformats.org/drawingml/2006/main">
              <a:ext uri="{FF2B5EF4-FFF2-40B4-BE49-F238E27FC236}">
                <a16:creationId xmlns:a16="http://schemas.microsoft.com/office/drawing/2014/main" id="{C17FD6BD-931C-44F9-BDDB-2B811A92EDB9}"/>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18</a:t>
            </a:r>
          </a:p>
        </p:txBody>
      </p:sp>
    </p:spTree>
    <p:extLst>
      <p:ext uri="{BB962C8B-B14F-4D97-AF65-F5344CB8AC3E}">
        <p14:creationId xmlns:p14="http://schemas.microsoft.com/office/powerpoint/2010/main" val="746626915"/>
      </p:ext>
    </p:extLst>
  </p:cSld>
</p:sld>
</file>

<file path=ppt/slides/slide19.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496BE6A-A869-4D49-84FB-121859F992A2}"/>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PHASE 3 · LIVE DEMONSTRATION</a:t>
            </a:r>
          </a:p>
        </p:txBody>
      </p:sp>
      <p:sp>
        <p:nvSpPr>
          <p:cNvPr id="2" name="">
            <a:extLst xmlns:a="http://schemas.openxmlformats.org/drawingml/2006/main">
              <a:ext uri="{FF2B5EF4-FFF2-40B4-BE49-F238E27FC236}">
                <a16:creationId xmlns:a16="http://schemas.microsoft.com/office/drawing/2014/main" id="{411E144D-FE7E-45A0-BCE1-1AA8D8354E0D}"/>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A seven-minute demonstration follows one order</a:t>
            </a:r>
          </a:p>
        </p:txBody>
      </p:sp>
      <p:sp>
        <p:nvSpPr>
          <p:cNvPr id="3" name="">
            <a:extLst xmlns:a="http://schemas.openxmlformats.org/drawingml/2006/main">
              <a:ext uri="{FF2B5EF4-FFF2-40B4-BE49-F238E27FC236}">
                <a16:creationId xmlns:a16="http://schemas.microsoft.com/office/drawing/2014/main" id="{DE206778-656E-44A0-A92C-EB9E553AD1EA}"/>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2"/>
                </a:solidFill>
                <a:latin typeface="Arial"/>
                <a:ea typeface="Arial"/>
                <a:cs typeface="Arial"/>
              </a:defRPr>
            </a:defPPr>
          </a:lstStyle>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1 minute: architecture, database profile and JDBC health</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2 minutes: restaurant menu, checkout and stored order</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2 minutes: valid status updates and price snapshot</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2 minutes: rejected request, tests and documentation</a:t>
            </a:r>
          </a:p>
        </p:txBody>
      </p:sp>
      <p:sp>
        <p:nvSpPr>
          <p:cNvPr id="4" name="">
            <a:extLst xmlns:a="http://schemas.openxmlformats.org/drawingml/2006/main">
              <a:ext uri="{FF2B5EF4-FFF2-40B4-BE49-F238E27FC236}">
                <a16:creationId xmlns:a16="http://schemas.microsoft.com/office/drawing/2014/main" id="{57D8EF2B-ED0B-4CB6-A7BB-920BCE23F476}"/>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19</a:t>
            </a:r>
          </a:p>
        </p:txBody>
      </p:sp>
    </p:spTree>
    <p:extLst>
      <p:ext uri="{BB962C8B-B14F-4D97-AF65-F5344CB8AC3E}">
        <p14:creationId xmlns:p14="http://schemas.microsoft.com/office/powerpoint/2010/main" val="2142207242"/>
      </p:ext>
    </p:extLst>
  </p:cSld>
</p:sld>
</file>

<file path=ppt/slides/slide20.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C4FDD59-66E8-4EC8-8BE2-E42D3E7B0A24}"/>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PHASE 3 · FINAL REPORT</a:t>
            </a:r>
          </a:p>
        </p:txBody>
      </p:sp>
      <p:sp>
        <p:nvSpPr>
          <p:cNvPr id="2" name="">
            <a:extLst xmlns:a="http://schemas.openxmlformats.org/drawingml/2006/main">
              <a:ext uri="{FF2B5EF4-FFF2-40B4-BE49-F238E27FC236}">
                <a16:creationId xmlns:a16="http://schemas.microsoft.com/office/drawing/2014/main" id="{B21F5CFE-49E7-41A8-830C-E4A4AB2FAFCB}"/>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The report ties requirements to evidence</a:t>
            </a:r>
          </a:p>
        </p:txBody>
      </p:sp>
      <p:sp>
        <p:nvSpPr>
          <p:cNvPr id="3" name="">
            <a:extLst xmlns:a="http://schemas.openxmlformats.org/drawingml/2006/main">
              <a:ext uri="{FF2B5EF4-FFF2-40B4-BE49-F238E27FC236}">
                <a16:creationId xmlns:a16="http://schemas.microsoft.com/office/drawing/2014/main" id="{619374A4-BCB4-441A-B234-7BD72872C3DF}"/>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2"/>
                </a:solidFill>
                <a:latin typeface="Arial"/>
                <a:ea typeface="Arial"/>
                <a:cs typeface="Arial"/>
              </a:defRPr>
            </a:defPPr>
          </a:lstStyle>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Include schema, keys and relationship cardinalities.</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Attach executable DDL/DML and connection configuration.</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Include screenshots, test results and error examples.</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Explain one complete order and record known limitations.</a:t>
            </a:r>
          </a:p>
        </p:txBody>
      </p:sp>
      <p:sp>
        <p:nvSpPr>
          <p:cNvPr id="4" name="">
            <a:extLst xmlns:a="http://schemas.openxmlformats.org/drawingml/2006/main">
              <a:ext uri="{FF2B5EF4-FFF2-40B4-BE49-F238E27FC236}">
                <a16:creationId xmlns:a16="http://schemas.microsoft.com/office/drawing/2014/main" id="{FFD7D7EE-06A2-4E2F-86C7-9EB694EC4983}"/>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20</a:t>
            </a:r>
          </a:p>
        </p:txBody>
      </p:sp>
    </p:spTree>
    <p:extLst>
      <p:ext uri="{BB962C8B-B14F-4D97-AF65-F5344CB8AC3E}">
        <p14:creationId xmlns:p14="http://schemas.microsoft.com/office/powerpoint/2010/main" val="403904918"/>
      </p:ext>
    </p:extLst>
  </p:cSld>
</p:sld>
</file>

<file path=ppt/slides/slide21.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652459F-CE34-433F-8AF5-49A741B616C3}"/>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COMPLETION BEFORE PHASE 3</a:t>
            </a:r>
          </a:p>
        </p:txBody>
      </p:sp>
      <p:sp>
        <p:nvSpPr>
          <p:cNvPr id="2" name="">
            <a:extLst xmlns:a="http://schemas.openxmlformats.org/drawingml/2006/main">
              <a:ext uri="{FF2B5EF4-FFF2-40B4-BE49-F238E27FC236}">
                <a16:creationId xmlns:a16="http://schemas.microsoft.com/office/drawing/2014/main" id="{30E96867-73A0-4927-925A-F22C550741EB}"/>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Four gaps need evidence or implementation</a:t>
            </a:r>
          </a:p>
        </p:txBody>
      </p:sp>
      <p:sp>
        <p:nvSpPr>
          <p:cNvPr id="3" name="">
            <a:extLst xmlns:a="http://schemas.openxmlformats.org/drawingml/2006/main">
              <a:ext uri="{FF2B5EF4-FFF2-40B4-BE49-F238E27FC236}">
                <a16:creationId xmlns:a16="http://schemas.microsoft.com/office/drawing/2014/main" id="{FEDB10B7-28EA-45BE-904F-A129421C6745}"/>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2"/>
                </a:solidFill>
                <a:latin typeface="Arial"/>
                <a:ea typeface="Arial"/>
                <a:cs typeface="Arial"/>
              </a:defRPr>
            </a:defPPr>
          </a:lstStyle>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Add and demonstrate the missing delete operation.</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Connect and verify Oracle if that is the proposed database.</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Align frontend writes with backend routes and remove hidden fallback success.</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Reconcile the report, schema and screenshots with the actual build.</a:t>
            </a:r>
          </a:p>
        </p:txBody>
      </p:sp>
      <p:sp>
        <p:nvSpPr>
          <p:cNvPr id="4" name="">
            <a:extLst xmlns:a="http://schemas.openxmlformats.org/drawingml/2006/main">
              <a:ext uri="{FF2B5EF4-FFF2-40B4-BE49-F238E27FC236}">
                <a16:creationId xmlns:a16="http://schemas.microsoft.com/office/drawing/2014/main" id="{65025C29-1F5D-440F-BD59-23751DBBFD87}"/>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21</a:t>
            </a:r>
          </a:p>
        </p:txBody>
      </p:sp>
    </p:spTree>
    <p:extLst>
      <p:ext uri="{BB962C8B-B14F-4D97-AF65-F5344CB8AC3E}">
        <p14:creationId xmlns:p14="http://schemas.microsoft.com/office/powerpoint/2010/main" val="1853077522"/>
      </p:ext>
    </p:extLst>
  </p:cSld>
</p:sld>
</file>

<file path=ppt/slides/slide22.xml><?xml version="1.0" encoding="utf-8"?>
<p:sld xmlns:p="http://schemas.openxmlformats.org/presentationml/2006/main">
  <p:cSld>
    <p:bg>
      <p:bgPr>
        <a:solidFill xmlns:a="http://schemas.openxmlformats.org/drawingml/2006/main">
          <a:srgbClr val="F7F3E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13B7BBB-9384-4D3D-B81C-9565FD56F3C0}"/>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5A2D"/>
                </a:solidFill>
                <a:latin typeface="Arial"/>
                <a:ea typeface="Arial"/>
                <a:cs typeface="Arial"/>
              </a:defRPr>
            </a:defPPr>
          </a:lstStyle>
          <a:p xmlns:a="http://schemas.openxmlformats.org/drawingml/2006/main">
            <a:pPr>
              <a:defRPr sz="1425" b="1">
                <a:solidFill>
                  <a:srgbClr val="9A5A2D"/>
                </a:solidFill>
                <a:latin typeface="Arial"/>
                <a:ea typeface="Arial"/>
                <a:cs typeface="Arial"/>
              </a:defRPr>
            </a:pPr>
            <a:r>
              <a:rPr sz="1425" b="1">
                <a:solidFill>
                  <a:srgbClr val="9A5A2D"/>
                </a:solidFill>
                <a:latin typeface="Arial"/>
                <a:ea typeface="Arial"/>
                <a:cs typeface="Arial"/>
              </a:rPr>
              <a:t>VIVA ANSWERS</a:t>
            </a:r>
          </a:p>
        </p:txBody>
      </p:sp>
      <p:sp>
        <p:nvSpPr>
          <p:cNvPr id="2" name="">
            <a:extLst xmlns:a="http://schemas.openxmlformats.org/drawingml/2006/main">
              <a:ext uri="{FF2B5EF4-FFF2-40B4-BE49-F238E27FC236}">
                <a16:creationId xmlns:a16="http://schemas.microsoft.com/office/drawing/2014/main" id="{389849A5-21B5-4D7F-B176-697CDE72C1A2}"/>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83D32"/>
                </a:solidFill>
                <a:latin typeface="Arial"/>
                <a:ea typeface="Arial"/>
                <a:cs typeface="Arial"/>
              </a:defRPr>
            </a:defPPr>
          </a:lstStyle>
          <a:p xmlns:a="http://schemas.openxmlformats.org/drawingml/2006/main">
            <a:pPr>
              <a:defRPr sz="3375" b="1">
                <a:solidFill>
                  <a:srgbClr val="183D32"/>
                </a:solidFill>
                <a:latin typeface="Arial"/>
                <a:ea typeface="Arial"/>
                <a:cs typeface="Arial"/>
              </a:defRPr>
            </a:pPr>
            <a:r>
              <a:rPr sz="3375" b="1">
                <a:solidFill>
                  <a:srgbClr val="183D32"/>
                </a:solidFill>
                <a:latin typeface="Arial"/>
                <a:ea typeface="Arial"/>
                <a:cs typeface="Arial"/>
              </a:rPr>
              <a:t>The database choices have concrete reasons</a:t>
            </a:r>
          </a:p>
        </p:txBody>
      </p:sp>
      <p:sp>
        <p:nvSpPr>
          <p:cNvPr id="3" name="">
            <a:extLst xmlns:a="http://schemas.openxmlformats.org/drawingml/2006/main">
              <a:ext uri="{FF2B5EF4-FFF2-40B4-BE49-F238E27FC236}">
                <a16:creationId xmlns:a16="http://schemas.microsoft.com/office/drawing/2014/main" id="{F270BBE0-D6DF-4BC0-8378-D318799F0220}"/>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D32"/>
                </a:solidFill>
                <a:latin typeface="Arial"/>
                <a:ea typeface="Arial"/>
                <a:cs typeface="Arial"/>
              </a:defRPr>
            </a:defPPr>
          </a:lstStyle>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Why JDBC? Explicit SQL and prepared parameter binding.</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Why ORDER_ITEM? One order can contain several dishes.</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Why freeze prices? Historical invoices retain the agreed amount.</a:t>
            </a:r>
          </a:p>
          <a:p xmlns:a="http://schemas.openxmlformats.org/drawingml/2006/main">
            <a:pPr>
              <a:defRPr sz="2250" b="0">
                <a:solidFill>
                  <a:srgbClr val="183D32"/>
                </a:solidFill>
                <a:latin typeface="Arial"/>
                <a:ea typeface="Arial"/>
                <a:cs typeface="Arial"/>
              </a:defRPr>
            </a:pPr>
            <a:r>
              <a:rPr sz="2250" b="0">
                <a:solidFill>
                  <a:srgbClr val="183D32"/>
                </a:solidFill>
                <a:latin typeface="Arial"/>
                <a:ea typeface="Arial"/>
                <a:cs typeface="Arial"/>
              </a:rPr>
              <a:t>Why a transaction? Related writes must succeed together.</a:t>
            </a:r>
          </a:p>
        </p:txBody>
      </p:sp>
      <p:sp>
        <p:nvSpPr>
          <p:cNvPr id="4" name="">
            <a:extLst xmlns:a="http://schemas.openxmlformats.org/drawingml/2006/main">
              <a:ext uri="{FF2B5EF4-FFF2-40B4-BE49-F238E27FC236}">
                <a16:creationId xmlns:a16="http://schemas.microsoft.com/office/drawing/2014/main" id="{8531BF4B-1627-48C2-B5E1-C9C34BAAFFC7}"/>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A5A2D"/>
                </a:solidFill>
                <a:latin typeface="Arial"/>
                <a:ea typeface="Arial"/>
                <a:cs typeface="Arial"/>
              </a:defRPr>
            </a:defPPr>
          </a:lstStyle>
          <a:p xmlns:a="http://schemas.openxmlformats.org/drawingml/2006/main">
            <a:pPr>
              <a:defRPr sz="1200" b="0">
                <a:solidFill>
                  <a:srgbClr val="9A5A2D"/>
                </a:solidFill>
                <a:latin typeface="Arial"/>
                <a:ea typeface="Arial"/>
                <a:cs typeface="Arial"/>
              </a:defRPr>
            </a:pPr>
            <a:r>
              <a:rPr sz="1200" b="0">
                <a:solidFill>
                  <a:srgbClr val="9A5A2D"/>
                </a:solidFill>
                <a:latin typeface="Arial"/>
                <a:ea typeface="Arial"/>
                <a:cs typeface="Arial"/>
              </a:rPr>
              <a:t>22</a:t>
            </a:r>
          </a:p>
        </p:txBody>
      </p:sp>
    </p:spTree>
    <p:extLst>
      <p:ext uri="{BB962C8B-B14F-4D97-AF65-F5344CB8AC3E}">
        <p14:creationId xmlns:p14="http://schemas.microsoft.com/office/powerpoint/2010/main" val="1969347333"/>
      </p:ext>
    </p:extLst>
  </p:cSld>
</p:sld>
</file>

<file path=ppt/slides/slide23.xml><?xml version="1.0" encoding="utf-8"?>
<p:sld xmlns:p="http://schemas.openxmlformats.org/presentationml/2006/main">
  <p:cSld>
    <p:bg>
      <p:bgPr>
        <a:solidFill xmlns:a="http://schemas.openxmlformats.org/drawingml/2006/main">
          <a:srgbClr val="183D3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53067E5-0985-4B4B-B0F2-1828122D3FF8}"/>
              </a:ext>
            </a:extLst>
          </p:cNvPr>
          <p:cNvSpPr>
            <a:spLocks xmlns:a="http://schemas.openxmlformats.org/drawingml/2006/main" noGrp="1"/>
          </p:cNvSpPr>
          <p:nvPr/>
        </p:nvSpPr>
        <p:spPr>
          <a:xfrm xmlns:a="http://schemas.openxmlformats.org/drawingml/2006/main">
            <a:off x="685800" y="457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E8B97A"/>
                </a:solidFill>
                <a:latin typeface="Arial"/>
                <a:ea typeface="Arial"/>
                <a:cs typeface="Arial"/>
              </a:defRPr>
            </a:defPPr>
          </a:lstStyle>
          <a:p xmlns:a="http://schemas.openxmlformats.org/drawingml/2006/main">
            <a:pPr>
              <a:defRPr sz="1425" b="1">
                <a:solidFill>
                  <a:srgbClr val="E8B97A"/>
                </a:solidFill>
                <a:latin typeface="Arial"/>
                <a:ea typeface="Arial"/>
                <a:cs typeface="Arial"/>
              </a:defRPr>
            </a:pPr>
            <a:r>
              <a:rPr sz="1425" b="1">
                <a:solidFill>
                  <a:srgbClr val="E8B97A"/>
                </a:solidFill>
                <a:latin typeface="Arial"/>
                <a:ea typeface="Arial"/>
                <a:cs typeface="Arial"/>
              </a:rPr>
              <a:t>SAVOUR</a:t>
            </a:r>
          </a:p>
        </p:txBody>
      </p:sp>
      <p:sp>
        <p:nvSpPr>
          <p:cNvPr id="2" name="">
            <a:extLst xmlns:a="http://schemas.openxmlformats.org/drawingml/2006/main">
              <a:ext uri="{FF2B5EF4-FFF2-40B4-BE49-F238E27FC236}">
                <a16:creationId xmlns:a16="http://schemas.microsoft.com/office/drawing/2014/main" id="{E8D678AD-8E99-488C-A977-5A4C4E219E52}"/>
              </a:ext>
            </a:extLst>
          </p:cNvPr>
          <p:cNvSpPr>
            <a:spLocks xmlns:a="http://schemas.openxmlformats.org/drawingml/2006/main" noGrp="1"/>
          </p:cNvSpPr>
          <p:nvPr/>
        </p:nvSpPr>
        <p:spPr>
          <a:xfrm xmlns:a="http://schemas.openxmlformats.org/drawingml/2006/main">
            <a:off x="685800" y="1143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7F3EB"/>
                </a:solidFill>
                <a:latin typeface="Arial"/>
                <a:ea typeface="Arial"/>
                <a:cs typeface="Arial"/>
              </a:defRPr>
            </a:defPPr>
          </a:lstStyle>
          <a:p xmlns:a="http://schemas.openxmlformats.org/drawingml/2006/main">
            <a:pPr>
              <a:defRPr sz="3375" b="1">
                <a:solidFill>
                  <a:srgbClr val="F7F3EB"/>
                </a:solidFill>
                <a:latin typeface="Arial"/>
                <a:ea typeface="Arial"/>
                <a:cs typeface="Arial"/>
              </a:defRPr>
            </a:pPr>
            <a:r>
              <a:rPr sz="3375" b="1">
                <a:solidFill>
                  <a:srgbClr val="F7F3EB"/>
                </a:solidFill>
                <a:latin typeface="Arial"/>
                <a:ea typeface="Arial"/>
                <a:cs typeface="Arial"/>
              </a:rPr>
              <a:t>A working order flow with verifiable database rules</a:t>
            </a:r>
          </a:p>
        </p:txBody>
      </p:sp>
      <p:sp>
        <p:nvSpPr>
          <p:cNvPr id="3" name="">
            <a:extLst xmlns:a="http://schemas.openxmlformats.org/drawingml/2006/main">
              <a:ext uri="{FF2B5EF4-FFF2-40B4-BE49-F238E27FC236}">
                <a16:creationId xmlns:a16="http://schemas.microsoft.com/office/drawing/2014/main" id="{EF8B07AB-DCC5-41B0-B484-C33D924B5DC0}"/>
              </a:ext>
            </a:extLst>
          </p:cNvPr>
          <p:cNvSpPr>
            <a:spLocks xmlns:a="http://schemas.openxmlformats.org/drawingml/2006/main" noGrp="1"/>
          </p:cNvSpPr>
          <p:nvPr/>
        </p:nvSpPr>
        <p:spPr>
          <a:xfrm xmlns:a="http://schemas.openxmlformats.org/drawingml/2006/main">
            <a:off x="685800" y="28575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7F3EB"/>
                </a:solidFill>
                <a:latin typeface="Arial"/>
                <a:ea typeface="Arial"/>
                <a:cs typeface="Arial"/>
              </a:defRPr>
            </a:defPPr>
          </a:lstStyle>
          <a:p xmlns:a="http://schemas.openxmlformats.org/drawingml/2006/main">
            <a:pPr>
              <a:defRPr sz="2250" b="0">
                <a:solidFill>
                  <a:srgbClr val="F7F3EB"/>
                </a:solidFill>
                <a:latin typeface="Arial"/>
                <a:ea typeface="Arial"/>
                <a:cs typeface="Arial"/>
              </a:defRPr>
            </a:pPr>
            <a:r>
              <a:rPr sz="2250" b="0">
                <a:solidFill>
                  <a:srgbClr val="F7F3EB"/>
                </a:solidFill>
                <a:latin typeface="Arial"/>
                <a:ea typeface="Arial"/>
                <a:cs typeface="Arial"/>
              </a:rPr>
              <a:t>Phase 2 evidence is implemented in the schema and services.</a:t>
            </a:r>
          </a:p>
          <a:p xmlns:a="http://schemas.openxmlformats.org/drawingml/2006/main">
            <a:pPr>
              <a:defRPr sz="2250" b="0">
                <a:solidFill>
                  <a:srgbClr val="F7F3EB"/>
                </a:solidFill>
                <a:latin typeface="Arial"/>
                <a:ea typeface="Arial"/>
                <a:cs typeface="Arial"/>
              </a:defRPr>
            </a:pPr>
            <a:r>
              <a:rPr sz="2250" b="0">
                <a:solidFill>
                  <a:srgbClr val="F7F3EB"/>
                </a:solidFill>
                <a:latin typeface="Arial"/>
                <a:ea typeface="Arial"/>
                <a:cs typeface="Arial"/>
              </a:rPr>
              <a:t>Phase 3 has passing backend tests and a clear completion checklist.</a:t>
            </a:r>
          </a:p>
        </p:txBody>
      </p:sp>
      <p:sp>
        <p:nvSpPr>
          <p:cNvPr id="4" name="">
            <a:extLst xmlns:a="http://schemas.openxmlformats.org/drawingml/2006/main">
              <a:ext uri="{FF2B5EF4-FFF2-40B4-BE49-F238E27FC236}">
                <a16:creationId xmlns:a16="http://schemas.microsoft.com/office/drawing/2014/main" id="{CA0993C3-5691-49E2-AA7A-2FE503BEE48A}"/>
              </a:ext>
            </a:extLst>
          </p:cNvPr>
          <p:cNvSpPr>
            <a:spLocks xmlns:a="http://schemas.openxmlformats.org/drawingml/2006/main" noGrp="1"/>
          </p:cNvSpPr>
          <p:nvPr/>
        </p:nvSpPr>
        <p:spPr>
          <a:xfrm xmlns:a="http://schemas.openxmlformats.org/drawingml/2006/main">
            <a:off x="11049000" y="63246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E8B97A"/>
                </a:solidFill>
                <a:latin typeface="Arial"/>
                <a:ea typeface="Arial"/>
                <a:cs typeface="Arial"/>
              </a:defRPr>
            </a:defPPr>
          </a:lstStyle>
          <a:p xmlns:a="http://schemas.openxmlformats.org/drawingml/2006/main">
            <a:pPr>
              <a:defRPr sz="1200" b="0">
                <a:solidFill>
                  <a:srgbClr val="E8B97A"/>
                </a:solidFill>
                <a:latin typeface="Arial"/>
                <a:ea typeface="Arial"/>
                <a:cs typeface="Arial"/>
              </a:defRPr>
            </a:pPr>
            <a:r>
              <a:rPr sz="1200" b="0">
                <a:solidFill>
                  <a:srgbClr val="E8B97A"/>
                </a:solidFill>
                <a:latin typeface="Arial"/>
                <a:ea typeface="Arial"/>
                <a:cs typeface="Arial"/>
              </a:rPr>
              <a:t>23</a:t>
            </a:r>
          </a:p>
        </p:txBody>
      </p:sp>
    </p:spTree>
    <p:extLst>
      <p:ext uri="{BB962C8B-B14F-4D97-AF65-F5344CB8AC3E}">
        <p14:creationId xmlns:p14="http://schemas.microsoft.com/office/powerpoint/2010/main" val="7201739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2026-10-22T15:59:22.4170000Z</dcterms:created>
  <dcterms:modified xsi:type="dcterms:W3CDTF">2026-10-22T15:59:22.4170000Z</dcterms:modified>
</coreProperties>
</file>